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2"/>
  </p:notesMasterIdLst>
  <p:handoutMasterIdLst>
    <p:handoutMasterId r:id="rId23"/>
  </p:handoutMasterIdLst>
  <p:sldIdLst>
    <p:sldId id="284" r:id="rId2"/>
    <p:sldId id="294" r:id="rId3"/>
    <p:sldId id="290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6" r:id="rId16"/>
    <p:sldId id="417" r:id="rId17"/>
    <p:sldId id="418" r:id="rId18"/>
    <p:sldId id="420" r:id="rId19"/>
    <p:sldId id="421" r:id="rId20"/>
    <p:sldId id="419" r:id="rId21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5FBF3DB0-0C42-4472-A2B0-B7491ACB8383}">
          <p14:sldIdLst>
            <p14:sldId id="284"/>
          </p14:sldIdLst>
        </p14:section>
        <p14:section name="Цели и причины перехода" id="{0A48036C-89C4-4681-94E5-7F4478CEBA7E}">
          <p14:sldIdLst>
            <p14:sldId id="294"/>
            <p14:sldId id="290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6"/>
            <p14:sldId id="417"/>
            <p14:sldId id="418"/>
            <p14:sldId id="420"/>
            <p14:sldId id="421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6739"/>
    <a:srgbClr val="2F3738"/>
    <a:srgbClr val="FDC300"/>
    <a:srgbClr val="BF8E3C"/>
    <a:srgbClr val="71B843"/>
    <a:srgbClr val="BE8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7686"/>
  </p:normalViewPr>
  <p:slideViewPr>
    <p:cSldViewPr>
      <p:cViewPr varScale="1">
        <p:scale>
          <a:sx n="99" d="100"/>
          <a:sy n="99" d="100"/>
        </p:scale>
        <p:origin x="588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72" y="4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9E08FC8-0D85-7C2F-1618-41A73DBE1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FEBAEE-6AC4-DE52-826D-27A3D20CE0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D17D4-0BB9-A740-A06F-D7C1B8AE0211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20A73F-3F07-2387-E20E-BE2438611C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7B12DB-FA1A-80A5-6827-680D681FD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60A3-520C-1C46-B181-6E8D469CAA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82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65575-ACE2-E544-8FA3-4F36DE28B8B3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5687-F0C8-7D42-B125-68C511D064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95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2798" y="10058197"/>
            <a:ext cx="10369412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4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438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7902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60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F730D433-B72F-1ACC-8454-C767BA85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24A9E14C-2892-EB6D-F545-A3834F3D2F1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946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C91D82D2-FB87-77AC-06A1-4CC0592681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36B22E5B-0934-35EA-2A16-D1B1EF25C7A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3B1FDB6A-39CE-5713-B2FD-0EE0F92FF0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CE69124C-7558-28D6-3356-E36AA4E1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17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67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>
            <a:off x="-46844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9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 flipH="1">
            <a:off x="10069351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5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ite and gray sofa chair near window">
            <a:extLst>
              <a:ext uri="{FF2B5EF4-FFF2-40B4-BE49-F238E27FC236}">
                <a16:creationId xmlns:a16="http://schemas.microsoft.com/office/drawing/2014/main" id="{B5DE54E9-111B-BAC1-0020-C95A750099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DAD2A-9B37-04C9-85A5-BAE6C01A00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94CEC86-2752-B236-54AF-6A385BA51A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18043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>
            <a:lvl1pPr>
              <a:defRPr>
                <a:solidFill>
                  <a:srgbClr val="2F3738"/>
                </a:solidFill>
              </a:defRPr>
            </a:lvl1pPr>
          </a:lstStyle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50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white and gray sofa chair near window">
            <a:extLst>
              <a:ext uri="{FF2B5EF4-FFF2-40B4-BE49-F238E27FC236}">
                <a16:creationId xmlns:a16="http://schemas.microsoft.com/office/drawing/2014/main" id="{AA281AA1-55D2-F6B1-B33E-110867CF2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AD6E4A-FEE0-BD1A-6EA5-DD0E6F304A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  <p:sp>
        <p:nvSpPr>
          <p:cNvPr id="5" name="Holder 2">
            <a:extLst>
              <a:ext uri="{FF2B5EF4-FFF2-40B4-BE49-F238E27FC236}">
                <a16:creationId xmlns:a16="http://schemas.microsoft.com/office/drawing/2014/main" id="{986F58C4-AE53-1DB4-6382-9117114D7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4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Holder 2">
            <a:extLst>
              <a:ext uri="{FF2B5EF4-FFF2-40B4-BE49-F238E27FC236}">
                <a16:creationId xmlns:a16="http://schemas.microsoft.com/office/drawing/2014/main" id="{7C78A49C-8B2B-EE11-FDEC-15DAAC936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1801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43547" y="-21765"/>
            <a:ext cx="20191193" cy="11351966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B27EDF-D218-0637-2685-7EBD896C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547" y="-21765"/>
            <a:ext cx="7132411" cy="1135196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589A48DC-38F8-4D89-CDF3-C4AF715125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91810" y="4980761"/>
            <a:ext cx="10945216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72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 dirty="0"/>
              <a:t>Текст слайда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9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623144"/>
            <a:ext cx="17475305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355695" y="10517696"/>
            <a:ext cx="274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95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68" r:id="rId3"/>
    <p:sldLayoutId id="2147483669" r:id="rId4"/>
    <p:sldLayoutId id="2147483680" r:id="rId5"/>
    <p:sldLayoutId id="2147483679" r:id="rId6"/>
    <p:sldLayoutId id="2147483670" r:id="rId7"/>
    <p:sldLayoutId id="2147483671" r:id="rId8"/>
    <p:sldLayoutId id="2147483677" r:id="rId9"/>
    <p:sldLayoutId id="2147483678" r:id="rId10"/>
    <p:sldLayoutId id="2147483674" r:id="rId11"/>
    <p:sldLayoutId id="2147483675" r:id="rId12"/>
    <p:sldLayoutId id="2147483672" r:id="rId13"/>
    <p:sldLayoutId id="2147483673" r:id="rId1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lickhouse.com/docs/en/engines/table-engines/mergetree-family/mergetree" TargetMode="External"/><Relationship Id="rId2" Type="http://schemas.openxmlformats.org/officeDocument/2006/relationships/hyperlink" Target="https://clickhouse.com/docs/en/engines/table-engines/mergetree-famil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lickhouse.com/docs/en/engines/table-engines/mergetree-family/mergetree#primary-keys-and-indexes-in-querie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quoeamaster.medium.com/things-to-know-about-clickhouse-summingmergetree-d04c60f1ebe0" TargetMode="External"/><Relationship Id="rId2" Type="http://schemas.openxmlformats.org/officeDocument/2006/relationships/hyperlink" Target="https://clickhouse.com/docs/en/engines/table-engines/mergetree-family/summingmergetre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E19323-4714-6053-1666-FBB86EF016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051050" y="3538706"/>
            <a:ext cx="8694736" cy="1593384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spcBef>
                <a:spcPts val="1864"/>
              </a:spcBef>
            </a:pPr>
            <a:r>
              <a:rPr lang="en-US" sz="8800" dirty="0" err="1"/>
              <a:t>Clickhouse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CA1D690-F233-4987-AE36-5585C6687D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dirty="0"/>
              <a:t>22</a:t>
            </a:r>
            <a:r>
              <a:rPr lang="ru-RU" dirty="0"/>
              <a:t>.0</a:t>
            </a:r>
            <a:r>
              <a:rPr lang="en-US" dirty="0"/>
              <a:t>4</a:t>
            </a:r>
            <a:r>
              <a:rPr lang="ru-RU" dirty="0"/>
              <a:t>.2025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70B591-7236-49E4-AF09-DBA6A409C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914" y="12190"/>
            <a:ext cx="14641867" cy="11393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31107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66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96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 err="1"/>
              <a:t>Clickhouse</a:t>
            </a:r>
            <a:r>
              <a:rPr lang="ru-RU" sz="8000" spc="45" dirty="0"/>
              <a:t>(</a:t>
            </a:r>
            <a:r>
              <a:rPr lang="en-US" sz="8000" spc="45" dirty="0"/>
              <a:t>CH</a:t>
            </a:r>
            <a:r>
              <a:rPr lang="ru-RU" sz="8000" spc="45" dirty="0"/>
              <a:t>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spc="45" dirty="0" err="1"/>
              <a:t>Clickhouse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это высокопроизводительная колоночная БД, оптимизированная для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OLAP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запросов;</a:t>
            </a: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Разработана компанией Яндекс для обработки и анализа больших объемов данных в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real-time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для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click-stream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систем;</a:t>
            </a: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 сегодня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CH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одна из самых быстрых СУБД с дисковым хранением;</a:t>
            </a: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Оптимизация запросов в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CH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начинается с правильной организации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97960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Оптимизация в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52577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>
              <a:buFontTx/>
              <a:buChar char="-"/>
            </a:pPr>
            <a:r>
              <a:rPr lang="ru-RU" sz="4000" spc="45" dirty="0"/>
              <a:t>использование индексов;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выбор подходящего движка таблицы;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оптимизация схемы данных;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предварительная агрегация данных;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использование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партиционнирования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оптимизация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join-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операции;(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CH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 создан под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JOIN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</a:t>
            </a:r>
            <a:endParaRPr lang="en-US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минимизация использования функций;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использование кэширования;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настройка конфигурации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CH;</a:t>
            </a:r>
          </a:p>
          <a:p>
            <a:pPr marL="578700" marR="707390" indent="-571500">
              <a:buFontTx/>
              <a:buChar char="-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анализ и оптимизации запросов.</a:t>
            </a:r>
          </a:p>
          <a:p>
            <a:pPr marL="578700" marR="707390" indent="-571500">
              <a:buFontTx/>
              <a:buChar char="-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/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P.S.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 факт вам это может помочь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Wingdings" panose="05000000000000000000" pitchFamily="2" charset="2"/>
              </a:rPr>
              <a:t> Если вы хотите делать много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Wingdings" panose="05000000000000000000" pitchFamily="2" charset="2"/>
              </a:rPr>
              <a:t>JOIN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958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Области применения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198580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/>
              <a:t>данных очень много и они выступают, как широкие таблицы;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нужно получать агрегированные результаты по этим данным;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анализ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click-stream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систем(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я.метрик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2259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В чем преимущество?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198580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Колоночное хранение данных – данные хранятся по столбцам, а не по строкам, что дает преимущество при сжатие данных, осуществление запроса по конкретным полям таблицы.</a:t>
            </a:r>
          </a:p>
        </p:txBody>
      </p:sp>
    </p:spTree>
    <p:extLst>
      <p:ext uri="{BB962C8B-B14F-4D97-AF65-F5344CB8AC3E}">
        <p14:creationId xmlns:p14="http://schemas.microsoft.com/office/powerpoint/2010/main" val="272653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Столбец </a:t>
            </a:r>
            <a:r>
              <a:rPr lang="en-US" sz="8000" spc="45" dirty="0"/>
              <a:t>vs </a:t>
            </a:r>
            <a:r>
              <a:rPr lang="ru-RU" sz="8000" spc="45" dirty="0"/>
              <a:t>Строка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063566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колончатом хранении: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блоки меньше размером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проще сжимаются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вертикальное секционирование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строковом хранении;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быстрая запись;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быстрое обновление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786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Преимущества </a:t>
            </a:r>
            <a:r>
              <a:rPr lang="en-US" sz="8000" spc="45" dirty="0"/>
              <a:t>column </a:t>
            </a:r>
            <a:r>
              <a:rPr lang="ru-RU" sz="8000" spc="45" dirty="0"/>
              <a:t>в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52577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Эффективное чтение: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меньше чтений с диска, так как загружаются необходимые столбцы;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Высокая сжимаемость: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благодаря однородности данных в столбце(они одного типа данных), достигается лучшая сжимаемость и уменьшается объем хранимых данных;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Оптимизация агрегаций: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CH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быстро выполняет агрегационные операции, такие как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COUNT, SUM, AVG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Векторные операции: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использование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SIMD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инструкций для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ускарения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обработки данных;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Высокая доступность: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поддержка репликации и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шардирования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для обеспечения надежности и доступности;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Масштабируемость: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горизонтальное масштабирование;</a:t>
            </a:r>
            <a:endParaRPr lang="ru-RU" sz="4000" b="0" i="0" dirty="0">
              <a:solidFill>
                <a:srgbClr val="2F2F2F"/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86308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Преимущества </a:t>
            </a:r>
            <a:r>
              <a:rPr lang="en-US" sz="8000" spc="45" dirty="0"/>
              <a:t>column </a:t>
            </a:r>
            <a:r>
              <a:rPr lang="ru-RU" sz="8000" spc="45" dirty="0"/>
              <a:t>в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814133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CH</a:t>
            </a:r>
            <a:r>
              <a:rPr lang="ru-RU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поддерживает параллельную обработку.</a:t>
            </a:r>
            <a:r>
              <a:rPr lang="ru-RU" sz="40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Это значит, что запросы могут выполняться одновременно на нескольких ядрах процессора. Это ускоряет работу.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В CH данные не обновляются и не удаляются сразу.</a:t>
            </a:r>
            <a:r>
              <a:rPr lang="ru-RU" sz="40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Такие операции происходят позже, в фоне. Это помогает базе данных не замедляться при выполнении больших запросов.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В системе есть собственный механизм сжатия данных.</a:t>
            </a:r>
            <a:r>
              <a:rPr lang="ru-RU" sz="40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Он уменьшает объём хранимой информации, но точность при этом не снижается.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CH может работать в распределённой среде.</a:t>
            </a:r>
            <a:r>
              <a:rPr lang="ru-RU" sz="40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Она объединяет данные с разных серверов и обрабатывает их как единое целое.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40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CH изначально спроектирована для чтения данных, а не для записи.</a:t>
            </a:r>
            <a:r>
              <a:rPr lang="ru-RU" sz="40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Поэтому она подходит для задач, где большую часть времени идёт именно чтение информации, а не её изменение.</a:t>
            </a:r>
          </a:p>
        </p:txBody>
      </p:sp>
    </p:spTree>
    <p:extLst>
      <p:ext uri="{BB962C8B-B14F-4D97-AF65-F5344CB8AC3E}">
        <p14:creationId xmlns:p14="http://schemas.microsoft.com/office/powerpoint/2010/main" val="412373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Ограничения в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46422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l"/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подходит не для всех задач. Она не рассчитана на частые изменения данных. Также она не поддерживает сложные транзакции, как это делают другие базы. Разберём ограничения подробнее.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Ограниченная поддержка обновлений и удаления данных.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</a:t>
            </a:r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не работает с командами UPDATE и DELETE так, как привычные базы данных. Такие операции выполняются через другие механизмы. Они менее гибкие и не совершаются мгновенно.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Не предназначена для транзакционной нагрузки.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В мире баз данных есть два основных типа работы: аналитическая (OLAP) и транзакционная (OLTP). OLTP — это когда система часто вносит изменения в данные, проверяет их на согласованность и обрабатывает запросы, где важны блокировки и точность каждой операции. Если важно, чтобы все изменения происходили строго по правилам, например в банковских переводах, то </a:t>
            </a:r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не подойдёт.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Ограничения при объединении таблиц.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В </a:t>
            </a:r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можно использовать JOIN — это операция, которая объединяет данные из нескольких таблиц. Но при работе с большими таблицами JOIN может сильно замедлить систему.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Требует аккуратной настройки.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Если данных становится много, важно правильно организовать структуру базы. Нужно продумать, как разбивать таблицы на части, как настраивать сжатие и </a:t>
            </a:r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партиции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— деление таблицы в базе данных на части. Без этого </a:t>
            </a:r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может начать работать медленно или нестабильно.</a:t>
            </a:r>
          </a:p>
          <a:p>
            <a:pPr algn="l"/>
            <a:endParaRPr lang="ru-RU" sz="2800" b="0" i="0" dirty="0">
              <a:solidFill>
                <a:srgbClr val="2F2F2F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935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Практическое применение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17156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l"/>
            <a:r>
              <a:rPr lang="ru-RU" sz="2800" b="0" i="0" dirty="0" err="1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используют компании, которые работают с трафиком, продажами и пользовательской активностью. Она помогает строить отчёты и следить за метриками.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Аналитика веб-трафика.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CH помогает компаниям понимать, что делают пользователи на сайте. Система записывает, какие страницы открывает человек, сколько времени он на них проводит, откуда он пришёл. Эти данные могут поступать каждую секунду, и их становится очень много. CH быстро обрабатывает такие данные и показывает отчёты. Например, маркетологи могут узнать, какие товары чаще смотрят, а какие — игнорируют.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Мониторинг приложений.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Многие компании записывают всё, что происходит на их серверах: ошибки, запросы, загрузку ресурсов. Эти записи называются логами. Их очень много. С помощью CH можно быстро найти нужную информацию в логах, даже если там миллионы строк. Это удобно для системных администраторов и инженеров, которые следят за работой серверов и ищут причины сбоев.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Финансовая аналитика.</a:t>
            </a:r>
            <a:r>
              <a:rPr lang="ru-RU" sz="2800" b="0" i="0" dirty="0">
                <a:solidFill>
                  <a:srgbClr val="2F2F2F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Биржевые данные, транзакции, котировки — всё это приходит потоком. Нужно быстро считать агрегаты, тренды, показатели — и тут CH поможет.</a:t>
            </a:r>
          </a:p>
          <a:p>
            <a:pPr algn="l"/>
            <a:endParaRPr lang="ru-RU" sz="2800" b="0" i="0" dirty="0">
              <a:solidFill>
                <a:srgbClr val="2F2F2F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88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Движки таблиц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81540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Движки таблиц играют центральную роль в оптимизации работы CH. Они определяют, как хранятся данные, как обрабатываются запросы, как предоставляется доступ к данным и т. д. Выбор правильного движка требует понимания основных семейств движков, способов хранения данных, возможности замены. Согласно  официальной документации CH движки определяют следующее:</a:t>
            </a:r>
            <a:endParaRPr lang="en-US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Как и где хранятся данные, куда их записывать и откуда читать.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Какие запросы поддерживаются, каким образом.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Одновременный доступ к данным.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Использование индексов, если они есть.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Возможно ли многопоточное выполнение запросов.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Параметры репликации данных.</a:t>
            </a:r>
            <a:endParaRPr lang="en-US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l">
              <a:lnSpc>
                <a:spcPct val="150000"/>
              </a:lnSpc>
            </a:pPr>
            <a:r>
              <a:rPr lang="ru-RU" sz="28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Более подробно про движки можно тут прочитать </a:t>
            </a:r>
            <a:r>
              <a:rPr lang="en-US" sz="28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https://clickhouse.com/docs/en/engines/table-engines</a:t>
            </a:r>
          </a:p>
        </p:txBody>
      </p:sp>
    </p:spTree>
    <p:extLst>
      <p:ext uri="{BB962C8B-B14F-4D97-AF65-F5344CB8AC3E}">
        <p14:creationId xmlns:p14="http://schemas.microsoft.com/office/powerpoint/2010/main" val="1070019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Основные движки таблиц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393742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1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: 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Семейство движков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- наиболее широко используемое и надежное семейство движков, подходящее для большинства случаев использования.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ReplicatedMergeTree</a:t>
            </a:r>
            <a:r>
              <a:rPr lang="ru-RU" sz="2800" b="1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: 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реплицируемая версия семейства движков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, поддерживающая репликацию данных для обеспечения высокой доступности 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многоузловых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кластерах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. Рекомендуется для использования на производстве, за исключением случаев с одноузловым кластером.</a:t>
            </a: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29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 err="1"/>
              <a:t>Многоузловые</a:t>
            </a:r>
            <a:r>
              <a:rPr lang="ru-RU" sz="8000" spc="45" dirty="0"/>
              <a:t> движки таблиц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87641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Log</a:t>
            </a:r>
            <a:r>
              <a:rPr lang="ru-RU" sz="2800" b="1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: 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В семейство движков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Log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входит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TinyLog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, рекомендованный для работы с небольшими объемами данных (до 1 млн строк) и быстрой вставки данных. Во многих учебниках и примерах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используется именно это семейство движков ввиду его простоты.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Специальные движки: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Сюда входят специальные движки, такие как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Distributed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,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Dictionary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и File, которые используются для создания распределенных таблиц между узлами кластера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Движки интеграции: 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Они используются для подключения к внешним источникам данных. Например, движок 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PostgreSQL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 позволяет подключаться к данным на экземпляре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PostgreSQL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и выполнять там запросы.</a:t>
            </a: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3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i="0" dirty="0" err="1">
                <a:solidFill>
                  <a:srgbClr val="000000"/>
                </a:solidFill>
                <a:effectLst/>
              </a:rPr>
              <a:t>MergeTree</a:t>
            </a:r>
            <a:r>
              <a:rPr lang="ru-RU" sz="80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8000" spc="45" dirty="0"/>
              <a:t>CH</a:t>
            </a:r>
            <a:endParaRPr lang="ru-RU" sz="8000" dirty="0">
              <a:solidFill>
                <a:srgbClr val="2F3738"/>
              </a:solidFill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32910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Семейство движков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- самое надежное и популярное среди специалистов по работе с данными, оно предназначено для работы с большими объемами данных.</a:t>
            </a:r>
            <a:endParaRPr lang="en-US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  <a:hlinkClick r:id="rId2"/>
              </a:rPr>
              <a:t>https://clickhouse.com/docs/en/engines/table-engines/mergetree-family</a:t>
            </a: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  <a:hlinkClick r:id="rId3"/>
              </a:rPr>
              <a:t>https://clickhouse.com/docs/en/engines/table-engines/mergetree-family/mergetree</a:t>
            </a: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3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i="0" dirty="0" err="1">
                <a:solidFill>
                  <a:srgbClr val="000000"/>
                </a:solidFill>
                <a:effectLst/>
              </a:rPr>
              <a:t>MergeTree</a:t>
            </a:r>
            <a:r>
              <a:rPr lang="ru-RU" sz="80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80308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Данные в таблицах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сортируются по столбцам (или выражениям) ключа сортировки в блоки, называемые гранулами, по 8192 строки (этот параметр можно настраивать, по умолчанию его значение = 8192). Если ключ сортировки содержит больше столбцов или выражений, данные будут сначала сортироваться по первому столбцу ключа сортировки, а в пределах каждого значения первого столбца будут сортироваться по второму ключу, и так далее. Каждая гранула имеет метку, в которой хранятся значения ключевых столбцов для данного блока.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Первичный ключ необязателен, его можно указать в том случае, если он отличается от ключа сортировки. Если первичный ключ не указан, ключ сортировки становится первичным ключом таблицы.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Данные сортируются по ключу сортировки, а метки ключа сортировки (значения столбцов ключа сортировки в начале каждой гранулы) используются для поиска строк, запрашиваемых фильтрами запроса. Поэтому ключ сортировки следует выбирать в соответствии с шаблонами использования распространенных запросов для быстрого извлечения данных. Таким образом, движки семейства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должны быть настроены на запросы, выполняемые в таблице, иначе для поиска нужных строк придется просканировать достаточно много данных (если не все данные).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Важной особенностью семейства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является то, как работают ключи и метки сортировки при определении данных для сканирования и как работают фильтры запросов. Об этом подробно рассказывается в документации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по семейству движков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– </a:t>
            </a:r>
            <a:r>
              <a:rPr lang="ru-RU" sz="2800" b="0" i="0" u="sng" dirty="0">
                <a:solidFill>
                  <a:srgbClr val="2374B8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  <a:hlinkClick r:id="rId2"/>
              </a:rPr>
              <a:t>ссылка.</a:t>
            </a:r>
            <a:endParaRPr lang="ru-RU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83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>
                <a:solidFill>
                  <a:srgbClr val="000000"/>
                </a:solidFill>
              </a:rPr>
              <a:t>Summing</a:t>
            </a:r>
            <a:r>
              <a:rPr lang="ru-RU" sz="8000" i="0" dirty="0" err="1">
                <a:solidFill>
                  <a:srgbClr val="000000"/>
                </a:solidFill>
                <a:effectLst/>
              </a:rPr>
              <a:t>MergeTree</a:t>
            </a:r>
            <a:r>
              <a:rPr lang="ru-RU" sz="800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81540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SummingMergeTree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- это вариант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, который суммирует все числовые столбцы всех строк ключа сортировки. Если для ключа сортировки подходят сразу несколько строк, они объединяются в одну строку, числовые столбцы которой равны сумме значений в строках.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Официальное руководство по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ClickHouse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рекомендует использовать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для хранения данных, 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SummingMergeTree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- для данных, которые используются в отчетах: </a:t>
            </a:r>
            <a:r>
              <a:rPr lang="ru-RU" sz="2800" b="0" i="0" u="sng" dirty="0">
                <a:solidFill>
                  <a:srgbClr val="2374B8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  <a:hlinkClick r:id="rId2"/>
              </a:rPr>
              <a:t>ссылка.</a:t>
            </a:r>
            <a:endParaRPr lang="ru-RU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Следует также отметить и то, что данные суммируются </a:t>
            </a:r>
            <a:r>
              <a:rPr lang="ru-RU" sz="2800" b="0" i="1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со временем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, что подразумевает возможность того, что некоторые части не будут агрегированы, поскольку они еще не были объединены. Для объединения всех оставшихся частей можно выполнить запрос OPTIMIZE. Эта и другие хитрости, касающиеся движка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SummingMergeTree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подробно описаны </a:t>
            </a:r>
            <a:r>
              <a:rPr lang="ru-RU" sz="2800" b="0" i="0" u="sng" dirty="0">
                <a:solidFill>
                  <a:srgbClr val="2374B8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  <a:hlinkClick r:id="rId3"/>
              </a:rPr>
              <a:t>здесь.</a:t>
            </a:r>
            <a:endParaRPr lang="ru-RU" sz="28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Обратите внимание и на то, что механизмы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ReplicatedMergeTree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и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ReplicatedSummingMergeTree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также доступны для таблиц с репликацией.</a:t>
            </a: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18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>
                <a:solidFill>
                  <a:srgbClr val="000000"/>
                </a:solidFill>
              </a:rPr>
              <a:t>Part </a:t>
            </a:r>
            <a:r>
              <a:rPr lang="ru-RU" sz="8000" i="0" dirty="0" err="1">
                <a:solidFill>
                  <a:srgbClr val="000000"/>
                </a:solidFill>
                <a:effectLst/>
              </a:rPr>
              <a:t>MergeTree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81008" y="1917264"/>
            <a:ext cx="7386866" cy="92185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 algn="just"/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Данные каждой таблицы в семействе движков таблиц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MergeTree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организованы на диске как набор неизменяемых частей данных (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data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parts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).</a:t>
            </a:r>
            <a:endParaRPr lang="en-US" sz="16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Когда сервер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обрабатывает пример вставки с 4 строками (например, через оператор INSERT INTO), показанный на диаграмме выше, он выполняет несколько шагов:</a:t>
            </a:r>
            <a:endParaRPr lang="en-US" sz="16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① Сортировка: Строки сортируются по ключу сортировки таблицы (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town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street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), а для отсортированных строк генерируется разреженный первичный индекс.</a:t>
            </a: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② Разделение: Отсортированные данные разделяются на столбцы.</a:t>
            </a: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③ Сжатие: Каждый столбец сжимается.</a:t>
            </a: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④ Запись на диск: Сжатые столбцы сохраняются как двоичные файлы столбцов в новом каталоге, представляющем часть данных вставки. Разреженный первичный индекс также сжимается и сохраняется в том же каталоге.</a:t>
            </a:r>
            <a:br>
              <a:rPr lang="en-US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</a:br>
            <a:endParaRPr lang="ru-RU" sz="16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зависимости от конкретного движка таблицы дополнительные преобразования могут выполняться вместе с сортировкой.</a:t>
            </a:r>
          </a:p>
          <a:p>
            <a:pPr marL="7200" marR="707390">
              <a:lnSpc>
                <a:spcPct val="150000"/>
              </a:lnSpc>
            </a:pP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Части данных являются самодостаточными и включают все метаданные, необходимые для интерпретации их содержимого без обращения к центральному каталогу. Помимо разреженного первичного индекса, части содержат дополнительные метаданные, такие как вторичные индексы пропуска данных, статистика столбцов, контрольные суммы,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min-max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индексы (если используется </a:t>
            </a:r>
            <a:r>
              <a:rPr lang="ru-RU" sz="16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partitioning</a:t>
            </a:r>
            <a:r>
              <a:rPr lang="ru-RU" sz="16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 и другое.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D40D5B-5592-4ED3-BB57-5962F08E44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954" y="2342307"/>
            <a:ext cx="10032354" cy="69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0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>
                <a:solidFill>
                  <a:srgbClr val="000000"/>
                </a:solidFill>
              </a:rPr>
              <a:t>Merge Part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81008" y="1917264"/>
            <a:ext cx="18548106" cy="29091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Чтобы управлять числом частей в таблице, фоновый процесс </a:t>
            </a:r>
            <a:r>
              <a:rPr lang="ru-RU" sz="2000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background</a:t>
            </a:r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2000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merge</a:t>
            </a:r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периодически объединяет меньшие части в более крупные до тех пор, пока они не достигнут настраиваемого сжатого размера (обычно около 150 ГБ). Слитые части помечаются как неактивные и удаляются по истечении настраиваемого временного интервала. Со временем этот процесс создаёт иерархическую структуру слитых частей, поэтому таблица и называется </a:t>
            </a:r>
            <a:r>
              <a:rPr lang="ru-RU" sz="2000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MergeTree</a:t>
            </a:r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:</a:t>
            </a:r>
            <a:endParaRPr lang="en-US" sz="2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/>
            <a:endParaRPr lang="en-US" sz="2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/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Чтобы минимизировать количество исходных частей и накладные расходы на слияния, клиентским приложениям базы данных рекомендуется либо выполнять пакетные вставки данных, например по 20 000 строк за раз, либо использовать режим асинхронной вставки, при котором </a:t>
            </a:r>
            <a:r>
              <a:rPr lang="ru-RU" sz="2000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2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буферизует строки из нескольких входящих операторов INSERT в одну и ту же таблицу и создаёт новую часть только после того, как размер буфера превысит настраиваемый порог или истечёт таймаут.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ACC0FB-5A39-4A78-98F0-147FE1D3D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50" y="4838850"/>
            <a:ext cx="10988154" cy="598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>
                <a:solidFill>
                  <a:srgbClr val="000000"/>
                </a:solidFill>
              </a:rPr>
              <a:t>Мутации в </a:t>
            </a:r>
            <a:r>
              <a:rPr lang="en-US" sz="8000" spc="45" dirty="0"/>
              <a:t>CH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604845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buFont typeface="Arial" panose="020B0604020202020204" pitchFamily="34" charset="0"/>
              <a:buChar char="•"/>
            </a:pP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</a:t>
            </a:r>
            <a:r>
              <a:rPr lang="ru-RU" sz="24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операции UPDATE и DELETE называются мутациями. Мутации реализованы как асинхронные процессы, выполняющиеся в фоновом режиме, и их эффект не проявляется мгновенно, поскольку запрошенные операции не применяются сразу. Можно отслеживать ход выполнения мутаций, поскольку команды, выдающие мутации, возвращаются немедленно. Мы рассмотрим способ проверки прогресса мутаций чуть позже.</a:t>
            </a: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endParaRPr lang="ru-RU" sz="24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Мутации выполняются с помощью предложения запроса ALTER TABLE, в этой статье приведен полный список операций мутации.</a:t>
            </a: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endParaRPr lang="ru-RU" sz="24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Важно помнить, что </a:t>
            </a:r>
            <a:r>
              <a:rPr lang="ru-RU" sz="24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создан как хранилище данных. Кроме того, предполагается, что изменения в существующих данных будут происходить нечасто и в больших объемах. В общем, ожидается, что данные, хранящиеся в </a:t>
            </a:r>
            <a:r>
              <a:rPr lang="ru-RU" sz="24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ClickHouse</a:t>
            </a: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не будут меняться, а вставки будут осуществляться партиями больших данных</a:t>
            </a: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endParaRPr lang="ru-RU" sz="24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 algn="just">
              <a:buFont typeface="Arial" panose="020B0604020202020204" pitchFamily="34" charset="0"/>
              <a:buChar char="•"/>
            </a:pPr>
            <a:endParaRPr lang="ru-RU" sz="24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 algn="just"/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Вывод: проще делать </a:t>
            </a:r>
            <a:r>
              <a:rPr lang="ru-RU" sz="24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партиции</a:t>
            </a: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и осуществлять через удаление </a:t>
            </a:r>
            <a:r>
              <a:rPr lang="ru-RU" sz="24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партиций</a:t>
            </a:r>
            <a:r>
              <a:rPr lang="ru-RU" sz="24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.</a:t>
            </a: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24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9173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Пользовательские 1">
      <a:dk1>
        <a:srgbClr val="20282B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3" id="{EE6AD3C4-B290-364C-968D-E5878914A989}" vid="{A3BAB7C9-F885-9A4B-8B56-1604B14D1A9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16151</TotalTime>
  <Words>2037</Words>
  <Application>Microsoft Office PowerPoint</Application>
  <PresentationFormat>Произвольный</PresentationFormat>
  <Paragraphs>148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LM Main</vt:lpstr>
      <vt:lpstr>YS Text</vt:lpstr>
      <vt:lpstr>1_Office Theme</vt:lpstr>
      <vt:lpstr>Clickhouse</vt:lpstr>
      <vt:lpstr>01</vt:lpstr>
      <vt:lpstr>Clickhouse(CH)</vt:lpstr>
      <vt:lpstr>Оптимизация в CH</vt:lpstr>
      <vt:lpstr>Области применения CH</vt:lpstr>
      <vt:lpstr>В чем преимущество?</vt:lpstr>
      <vt:lpstr>Столбец vs Строка</vt:lpstr>
      <vt:lpstr>Преимущества column в CH</vt:lpstr>
      <vt:lpstr>Преимущества column в CH</vt:lpstr>
      <vt:lpstr>Ограничения в CH</vt:lpstr>
      <vt:lpstr>Практическое применение CH</vt:lpstr>
      <vt:lpstr>Движки таблиц CH</vt:lpstr>
      <vt:lpstr>Основные движки таблиц CH</vt:lpstr>
      <vt:lpstr>Многоузловые движки таблиц CH</vt:lpstr>
      <vt:lpstr>MergeTree CH</vt:lpstr>
      <vt:lpstr>MergeTree CH</vt:lpstr>
      <vt:lpstr>SummingMergeTree CH</vt:lpstr>
      <vt:lpstr>Part MergeTree</vt:lpstr>
      <vt:lpstr>Merge Part</vt:lpstr>
      <vt:lpstr>Мутации в 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несколько строчек</dc:title>
  <dc:creator>Microsoft Office User</dc:creator>
  <cp:lastModifiedBy>Михаил Зотов</cp:lastModifiedBy>
  <cp:revision>171</cp:revision>
  <dcterms:created xsi:type="dcterms:W3CDTF">2023-02-28T16:28:59Z</dcterms:created>
  <dcterms:modified xsi:type="dcterms:W3CDTF">2026-03-30T10:37:55Z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Creator">
    <vt:lpwstr>Adobe Illustrator 26.3 (Macintosh)</vt:lpwstr>
  </property>
  <property fmtid="{D5CDD505-2E9C-101B-9397-08002B2CF9AE}" pid="4" name="LastSaved">
    <vt:filetime>2023-01-12T00:00:00Z</vt:filetime>
  </property>
</Properties>
</file>
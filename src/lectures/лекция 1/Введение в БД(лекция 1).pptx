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2"/>
  </p:notesMasterIdLst>
  <p:handoutMasterIdLst>
    <p:handoutMasterId r:id="rId33"/>
  </p:handoutMasterIdLst>
  <p:sldIdLst>
    <p:sldId id="284" r:id="rId2"/>
    <p:sldId id="292" r:id="rId3"/>
    <p:sldId id="294" r:id="rId4"/>
    <p:sldId id="290" r:id="rId5"/>
    <p:sldId id="300" r:id="rId6"/>
    <p:sldId id="328" r:id="rId7"/>
    <p:sldId id="329" r:id="rId8"/>
    <p:sldId id="330" r:id="rId9"/>
    <p:sldId id="331" r:id="rId10"/>
    <p:sldId id="334" r:id="rId11"/>
    <p:sldId id="332" r:id="rId12"/>
    <p:sldId id="333" r:id="rId13"/>
    <p:sldId id="298" r:id="rId14"/>
    <p:sldId id="299" r:id="rId15"/>
    <p:sldId id="342" r:id="rId16"/>
    <p:sldId id="301" r:id="rId17"/>
    <p:sldId id="337" r:id="rId18"/>
    <p:sldId id="335" r:id="rId19"/>
    <p:sldId id="339" r:id="rId20"/>
    <p:sldId id="304" r:id="rId21"/>
    <p:sldId id="338" r:id="rId22"/>
    <p:sldId id="336" r:id="rId23"/>
    <p:sldId id="340" r:id="rId24"/>
    <p:sldId id="341" r:id="rId25"/>
    <p:sldId id="343" r:id="rId26"/>
    <p:sldId id="344" r:id="rId27"/>
    <p:sldId id="345" r:id="rId28"/>
    <p:sldId id="346" r:id="rId29"/>
    <p:sldId id="319" r:id="rId30"/>
    <p:sldId id="320" r:id="rId31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5FBF3DB0-0C42-4472-A2B0-B7491ACB8383}">
          <p14:sldIdLst>
            <p14:sldId id="284"/>
            <p14:sldId id="292"/>
          </p14:sldIdLst>
        </p14:section>
        <p14:section name="Цели и причины перехода" id="{0A48036C-89C4-4681-94E5-7F4478CEBA7E}">
          <p14:sldIdLst>
            <p14:sldId id="294"/>
            <p14:sldId id="290"/>
            <p14:sldId id="300"/>
            <p14:sldId id="328"/>
            <p14:sldId id="329"/>
            <p14:sldId id="330"/>
            <p14:sldId id="331"/>
            <p14:sldId id="334"/>
            <p14:sldId id="332"/>
            <p14:sldId id="333"/>
          </p14:sldIdLst>
        </p14:section>
        <p14:section name="Архитектура" id="{E8BBCE6B-904F-4E18-B230-DA871171BCCE}">
          <p14:sldIdLst>
            <p14:sldId id="298"/>
            <p14:sldId id="299"/>
            <p14:sldId id="342"/>
          </p14:sldIdLst>
        </p14:section>
        <p14:section name="Backlog" id="{6B8B3C4B-B851-4DDE-9C57-DA7971D04A63}">
          <p14:sldIdLst>
            <p14:sldId id="301"/>
            <p14:sldId id="337"/>
            <p14:sldId id="335"/>
            <p14:sldId id="339"/>
            <p14:sldId id="304"/>
            <p14:sldId id="338"/>
            <p14:sldId id="336"/>
            <p14:sldId id="340"/>
            <p14:sldId id="341"/>
            <p14:sldId id="343"/>
            <p14:sldId id="344"/>
            <p14:sldId id="345"/>
            <p14:sldId id="346"/>
          </p14:sldIdLst>
        </p14:section>
        <p14:section name="Немного практики" id="{6B5851A1-E8D1-41BF-B256-455C87FBB778}">
          <p14:sldIdLst>
            <p14:sldId id="319"/>
            <p14:sldId id="320"/>
          </p14:sldIdLst>
        </p14:section>
        <p14:section name="Итоги" id="{EE9EAB86-90C3-4BAE-ABD2-4B6194131778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6739"/>
    <a:srgbClr val="2F3738"/>
    <a:srgbClr val="FDC300"/>
    <a:srgbClr val="BF8E3C"/>
    <a:srgbClr val="71B843"/>
    <a:srgbClr val="BE8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7686"/>
  </p:normalViewPr>
  <p:slideViewPr>
    <p:cSldViewPr>
      <p:cViewPr varScale="1">
        <p:scale>
          <a:sx n="52" d="100"/>
          <a:sy n="52" d="100"/>
        </p:scale>
        <p:origin x="446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272" y="4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9E08FC8-0D85-7C2F-1618-41A73DBE12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FEBAEE-6AC4-DE52-826D-27A3D20CE0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D17D4-0BB9-A740-A06F-D7C1B8AE0211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20A73F-3F07-2387-E20E-BE2438611C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7B12DB-FA1A-80A5-6827-680D681FDB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A60A3-520C-1C46-B181-6E8D469CAA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82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65575-ACE2-E544-8FA3-4F36DE28B8B3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5687-F0C8-7D42-B125-68C511D064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95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22798" y="10058197"/>
            <a:ext cx="10369412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65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lder 4">
            <a:extLst>
              <a:ext uri="{FF2B5EF4-FFF2-40B4-BE49-F238E27FC236}">
                <a16:creationId xmlns:a16="http://schemas.microsoft.com/office/drawing/2014/main" id="{BDD35CB0-3F80-DEC0-9D29-510028DA61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Holder 5">
            <a:extLst>
              <a:ext uri="{FF2B5EF4-FFF2-40B4-BE49-F238E27FC236}">
                <a16:creationId xmlns:a16="http://schemas.microsoft.com/office/drawing/2014/main" id="{8A2EC026-7555-AE21-334C-A7957D5B3D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542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lder 4">
            <a:extLst>
              <a:ext uri="{FF2B5EF4-FFF2-40B4-BE49-F238E27FC236}">
                <a16:creationId xmlns:a16="http://schemas.microsoft.com/office/drawing/2014/main" id="{BDD35CB0-3F80-DEC0-9D29-510028DA61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Holder 5">
            <a:extLst>
              <a:ext uri="{FF2B5EF4-FFF2-40B4-BE49-F238E27FC236}">
                <a16:creationId xmlns:a16="http://schemas.microsoft.com/office/drawing/2014/main" id="{8A2EC026-7555-AE21-334C-A7957D5B3D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438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37902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4" name="Holder 4">
            <a:extLst>
              <a:ext uri="{FF2B5EF4-FFF2-40B4-BE49-F238E27FC236}">
                <a16:creationId xmlns:a16="http://schemas.microsoft.com/office/drawing/2014/main" id="{A48AB5B7-BA22-2ED6-5925-4434DA4046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08771EA5-62EE-D56B-41B3-79A98198F78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6665D1E6-6318-1ED4-5833-0C872D87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460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10892" y="10418751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F730D433-B72F-1ACC-8454-C767BA859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7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6665D1E6-6318-1ED4-5833-0C872D87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24A9E14C-2892-EB6D-F545-A3834F3D2F1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10892" y="10418751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946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C91D82D2-FB87-77AC-06A1-4CC05926812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36B22E5B-0934-35EA-2A16-D1B1EF25C7A4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3B1FDB6A-39CE-5713-B2FD-0EE0F92FF0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CE69124C-7558-28D6-3356-E36AA4E1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chemeClr val="bg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717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67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1D027C-4786-CDD5-4BCD-5CF0E6F9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58"/>
          <a:stretch/>
        </p:blipFill>
        <p:spPr>
          <a:xfrm>
            <a:off x="-46844" y="-39302"/>
            <a:ext cx="10098893" cy="11393606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49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1D027C-4786-CDD5-4BCD-5CF0E6F9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58"/>
          <a:stretch/>
        </p:blipFill>
        <p:spPr>
          <a:xfrm flipH="1">
            <a:off x="10069351" y="-39302"/>
            <a:ext cx="10098893" cy="11393606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5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ite and gray sofa chair near window">
            <a:extLst>
              <a:ext uri="{FF2B5EF4-FFF2-40B4-BE49-F238E27FC236}">
                <a16:creationId xmlns:a16="http://schemas.microsoft.com/office/drawing/2014/main" id="{B5DE54E9-111B-BAC1-0020-C95A750099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1DAD2A-9B37-04C9-85A5-BAE6C01A00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D94CEC86-2752-B236-54AF-6A385BA51A3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18043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>
            <a:lvl1pPr>
              <a:defRPr>
                <a:solidFill>
                  <a:srgbClr val="2F3738"/>
                </a:solidFill>
              </a:defRPr>
            </a:lvl1pPr>
          </a:lstStyle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01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BBCA2-49B4-0CCF-5558-A83A3F229B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1050" y="9615115"/>
            <a:ext cx="2753682" cy="7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50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white and gray sofa chair near window">
            <a:extLst>
              <a:ext uri="{FF2B5EF4-FFF2-40B4-BE49-F238E27FC236}">
                <a16:creationId xmlns:a16="http://schemas.microsoft.com/office/drawing/2014/main" id="{AA281AA1-55D2-F6B1-B33E-110867CF2F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AD6E4A-FEE0-BD1A-6EA5-DD0E6F304A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BBCA2-49B4-0CCF-5558-A83A3F229B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1050" y="9615115"/>
            <a:ext cx="2753682" cy="706884"/>
          </a:xfrm>
          <a:prstGeom prst="rect">
            <a:avLst/>
          </a:prstGeom>
        </p:spPr>
      </p:pic>
      <p:sp>
        <p:nvSpPr>
          <p:cNvPr id="5" name="Holder 2">
            <a:extLst>
              <a:ext uri="{FF2B5EF4-FFF2-40B4-BE49-F238E27FC236}">
                <a16:creationId xmlns:a16="http://schemas.microsoft.com/office/drawing/2014/main" id="{986F58C4-AE53-1DB4-6382-9117114D7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445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Holder 4">
            <a:extLst>
              <a:ext uri="{FF2B5EF4-FFF2-40B4-BE49-F238E27FC236}">
                <a16:creationId xmlns:a16="http://schemas.microsoft.com/office/drawing/2014/main" id="{A48AB5B7-BA22-2ED6-5925-4434DA4046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08771EA5-62EE-D56B-41B3-79A98198F78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Holder 2">
            <a:extLst>
              <a:ext uri="{FF2B5EF4-FFF2-40B4-BE49-F238E27FC236}">
                <a16:creationId xmlns:a16="http://schemas.microsoft.com/office/drawing/2014/main" id="{7C78A49C-8B2B-EE11-FDEC-15DAAC936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1801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43547" y="-21765"/>
            <a:ext cx="20191193" cy="11351966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B27EDF-D218-0637-2685-7EBD896C1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547" y="-21765"/>
            <a:ext cx="7132411" cy="1135196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589A48DC-38F8-4D89-CDF3-C4AF715125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91810" y="4980761"/>
            <a:ext cx="10945216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7200"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 dirty="0"/>
              <a:t>Текст слайда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193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623144"/>
            <a:ext cx="17475305" cy="407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355695" y="10517696"/>
            <a:ext cx="274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195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6" r:id="rId2"/>
    <p:sldLayoutId id="2147483668" r:id="rId3"/>
    <p:sldLayoutId id="2147483669" r:id="rId4"/>
    <p:sldLayoutId id="2147483680" r:id="rId5"/>
    <p:sldLayoutId id="2147483679" r:id="rId6"/>
    <p:sldLayoutId id="2147483670" r:id="rId7"/>
    <p:sldLayoutId id="2147483671" r:id="rId8"/>
    <p:sldLayoutId id="2147483677" r:id="rId9"/>
    <p:sldLayoutId id="2147483678" r:id="rId10"/>
    <p:sldLayoutId id="2147483674" r:id="rId11"/>
    <p:sldLayoutId id="2147483675" r:id="rId12"/>
    <p:sldLayoutId id="2147483672" r:id="rId13"/>
    <p:sldLayoutId id="2147483673" r:id="rId14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ocker.com/products/docker-deskto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E19323-4714-6053-1666-FBB86EF016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1051050" y="3538706"/>
            <a:ext cx="8694736" cy="2947601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spcBef>
                <a:spcPts val="1864"/>
              </a:spcBef>
            </a:pPr>
            <a:r>
              <a:rPr lang="ru-RU" sz="8800" dirty="0">
                <a:solidFill>
                  <a:srgbClr val="2F3738"/>
                </a:solidFill>
              </a:rPr>
              <a:t>Введение в </a:t>
            </a:r>
            <a:r>
              <a:rPr lang="en-US" sz="8800" dirty="0" err="1">
                <a:solidFill>
                  <a:srgbClr val="2F3738"/>
                </a:solidFill>
              </a:rPr>
              <a:t>BigData</a:t>
            </a:r>
            <a:endParaRPr sz="8800" dirty="0">
              <a:solidFill>
                <a:schemeClr val="bg1"/>
              </a:solidFill>
            </a:endParaRP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CA1D690-F233-4987-AE36-5585C6687DA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ru-RU" dirty="0"/>
              <a:t>11.02.2025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70B591-7236-49E4-AF09-DBA6A409C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914" y="12190"/>
            <a:ext cx="14641867" cy="11393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75838" y="2292942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en-US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1</a:t>
            </a:r>
            <a:endParaRPr lang="ru-RU" sz="44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11BEA4-E835-9F14-91D7-81C58966C06B}"/>
              </a:ext>
            </a:extLst>
          </p:cNvPr>
          <p:cNvSpPr txBox="1"/>
          <p:nvPr/>
        </p:nvSpPr>
        <p:spPr>
          <a:xfrm>
            <a:off x="18712066" y="10335195"/>
            <a:ext cx="698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chemeClr val="bg1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00</a:t>
            </a: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1CF2F8D2-7D7C-3205-8346-A213E02E5733}"/>
              </a:ext>
            </a:extLst>
          </p:cNvPr>
          <p:cNvSpPr txBox="1"/>
          <p:nvPr/>
        </p:nvSpPr>
        <p:spPr>
          <a:xfrm>
            <a:off x="2339015" y="2321998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Немного истории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8FCBC55-AD0C-042A-1C03-47FDCB6499ED}"/>
              </a:ext>
            </a:extLst>
          </p:cNvPr>
          <p:cNvSpPr/>
          <p:nvPr/>
        </p:nvSpPr>
        <p:spPr>
          <a:xfrm rot="5400000">
            <a:off x="1391120" y="2809717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E26F303A-FD7B-D57E-552A-30E14B07CDD4}"/>
              </a:ext>
            </a:extLst>
          </p:cNvPr>
          <p:cNvSpPr txBox="1"/>
          <p:nvPr/>
        </p:nvSpPr>
        <p:spPr>
          <a:xfrm>
            <a:off x="1075838" y="3717208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2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49FFB33F-A0A9-D33A-F874-9A68141D0DF8}"/>
              </a:ext>
            </a:extLst>
          </p:cNvPr>
          <p:cNvSpPr txBox="1"/>
          <p:nvPr/>
        </p:nvSpPr>
        <p:spPr>
          <a:xfrm>
            <a:off x="2339015" y="3747985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Архитектура решений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AAEBFA6-01B3-A2E6-5B0D-C1221D3A6685}"/>
              </a:ext>
            </a:extLst>
          </p:cNvPr>
          <p:cNvSpPr/>
          <p:nvPr/>
        </p:nvSpPr>
        <p:spPr>
          <a:xfrm rot="5400000">
            <a:off x="1391120" y="4233983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40BB7AA1-6E1B-1277-7467-8B99ED4B4C26}"/>
              </a:ext>
            </a:extLst>
          </p:cNvPr>
          <p:cNvSpPr txBox="1"/>
          <p:nvPr/>
        </p:nvSpPr>
        <p:spPr>
          <a:xfrm>
            <a:off x="1110892" y="5182657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3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14D5C2-832D-8A31-36DD-0CA6F4C132BC}"/>
              </a:ext>
            </a:extLst>
          </p:cNvPr>
          <p:cNvSpPr/>
          <p:nvPr/>
        </p:nvSpPr>
        <p:spPr>
          <a:xfrm rot="5400000">
            <a:off x="1426174" y="5699432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CE076F68-70DB-5176-DC57-B950FA0C64AC}"/>
              </a:ext>
            </a:extLst>
          </p:cNvPr>
          <p:cNvSpPr txBox="1"/>
          <p:nvPr/>
        </p:nvSpPr>
        <p:spPr>
          <a:xfrm>
            <a:off x="1075838" y="6653032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4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C4CBAF0-F3AC-0EBB-57F7-E347CF1EBC33}"/>
              </a:ext>
            </a:extLst>
          </p:cNvPr>
          <p:cNvSpPr/>
          <p:nvPr/>
        </p:nvSpPr>
        <p:spPr>
          <a:xfrm rot="5400000">
            <a:off x="1391120" y="7169807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Номер слайда 40">
            <a:extLst>
              <a:ext uri="{FF2B5EF4-FFF2-40B4-BE49-F238E27FC236}">
                <a16:creationId xmlns:a16="http://schemas.microsoft.com/office/drawing/2014/main" id="{06BA4384-8B5D-A442-E619-D265CD534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38" name="Заголовок 37">
            <a:extLst>
              <a:ext uri="{FF2B5EF4-FFF2-40B4-BE49-F238E27FC236}">
                <a16:creationId xmlns:a16="http://schemas.microsoft.com/office/drawing/2014/main" id="{4D86283F-B8BD-1EB8-14C4-2E882A285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2D11A3B7-3D6C-4634-955C-23B4F598F133}"/>
              </a:ext>
            </a:extLst>
          </p:cNvPr>
          <p:cNvSpPr txBox="1"/>
          <p:nvPr/>
        </p:nvSpPr>
        <p:spPr>
          <a:xfrm>
            <a:off x="2339015" y="5277328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Наши дни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25591500-8C5D-49BD-ACED-7231050A9B63}"/>
              </a:ext>
            </a:extLst>
          </p:cNvPr>
          <p:cNvSpPr txBox="1"/>
          <p:nvPr/>
        </p:nvSpPr>
        <p:spPr>
          <a:xfrm>
            <a:off x="2337622" y="6683809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Игроки на РФ рынке</a:t>
            </a: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5E934700-9E37-4F2F-8A12-881813D55B9C}"/>
              </a:ext>
            </a:extLst>
          </p:cNvPr>
          <p:cNvSpPr txBox="1"/>
          <p:nvPr/>
        </p:nvSpPr>
        <p:spPr>
          <a:xfrm>
            <a:off x="1100420" y="8114555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5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F4DCFBF-6368-4BEB-AE3C-CC9D808C1836}"/>
              </a:ext>
            </a:extLst>
          </p:cNvPr>
          <p:cNvSpPr/>
          <p:nvPr/>
        </p:nvSpPr>
        <p:spPr>
          <a:xfrm rot="5400000">
            <a:off x="1415702" y="8631330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369666D8-8310-49C1-B699-F131E74AF9BA}"/>
              </a:ext>
            </a:extLst>
          </p:cNvPr>
          <p:cNvSpPr txBox="1"/>
          <p:nvPr/>
        </p:nvSpPr>
        <p:spPr>
          <a:xfrm>
            <a:off x="2337622" y="8255812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Немного практики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7979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white and gray sofa chair near window">
            <a:extLst>
              <a:ext uri="{FF2B5EF4-FFF2-40B4-BE49-F238E27FC236}">
                <a16:creationId xmlns:a16="http://schemas.microsoft.com/office/drawing/2014/main" id="{BCD95D0B-2384-23C0-3080-19620BAE0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01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3" y="5031107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Немного истории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876D12-7B22-4CF9-9B45-5A9135A364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082" y="-39302"/>
            <a:ext cx="11398661" cy="1139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6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Немного истории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741190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70-ые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Эдгар Кодд появления реляционной модели данных;</a:t>
            </a:r>
            <a:endParaRPr lang="en-US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80-ые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Пол Мерфи, Барри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Девлин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“Business DWH”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;</a:t>
            </a: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90-</a:t>
            </a:r>
            <a:r>
              <a:rPr lang="ru-RU" sz="40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ые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Появления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Oracle, Teradata, IBM D2.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Модели Билла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Инмона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и Ральфа Кимбалла;</a:t>
            </a:r>
            <a:endParaRPr lang="en-US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00-ые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MPP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субд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появление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Greenplum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Hadoop;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Термин </a:t>
            </a:r>
            <a:r>
              <a:rPr lang="en-US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BigData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Клиффорд Линч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</a:t>
            </a: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10-</a:t>
            </a:r>
            <a:r>
              <a:rPr lang="ru-RU" sz="40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ые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Эпоха облаков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Snowflake, G </a:t>
            </a:r>
            <a:r>
              <a:rPr lang="en-US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BigQuery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Amazon Redshift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</a:t>
            </a:r>
            <a:endParaRPr lang="en-US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20-</a:t>
            </a:r>
            <a:r>
              <a:rPr lang="ru-RU" sz="40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ые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 </a:t>
            </a:r>
            <a:r>
              <a:rPr lang="en-US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Trino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</a:t>
            </a:r>
            <a:r>
              <a:rPr lang="en-US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YugaByte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 новые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.</a:t>
            </a: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60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02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Архитектура решений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90750A-3A18-487E-A4CD-8D97DD776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266" y="-35293"/>
            <a:ext cx="19688759" cy="1139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5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Архитектура решений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70729B-BB32-4581-AA30-1A06198F0E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581" y="2006909"/>
            <a:ext cx="11420938" cy="90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/>
              <a:t>Source Layer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0E7837D4-E63B-402B-B240-CE7D19C7AC54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Files, SFTP, </a:t>
            </a:r>
            <a:r>
              <a:rPr lang="en-US" sz="40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etc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файловые ресурсы(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Excel, csv, FTP|SFTP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);</a:t>
            </a:r>
            <a:endParaRPr lang="en-US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IOT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-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internet of things,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устройства умного дома, медицинское оборудование и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т.д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;</a:t>
            </a: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API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-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Application programming interface,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программный интерфейс для получения данных;</a:t>
            </a:r>
            <a:endParaRPr lang="en-US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OLTP –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Online Transaction Processing.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Системы обработки транзакций в реальном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283575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/>
              <a:t>Data processing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3D613340-9F95-4B57-90C6-F66699664FA1}"/>
              </a:ext>
            </a:extLst>
          </p:cNvPr>
          <p:cNvSpPr txBox="1"/>
          <p:nvPr/>
        </p:nvSpPr>
        <p:spPr>
          <a:xfrm>
            <a:off x="1110892" y="2486323"/>
            <a:ext cx="17726134" cy="371858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Batch –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ELT, ETL(Extract, Load, Transform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Extract, Transform, Load).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Системы передачи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порционных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данных сырых данных с источника.</a:t>
            </a: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Streaming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обработка данных в реальном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281422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/>
              <a:t>Storage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ECCD0489-6DD1-4377-8457-5939BDCBD242}"/>
              </a:ext>
            </a:extLst>
          </p:cNvPr>
          <p:cNvSpPr txBox="1"/>
          <p:nvPr/>
        </p:nvSpPr>
        <p:spPr>
          <a:xfrm>
            <a:off x="1110892" y="2486323"/>
            <a:ext cx="17726134" cy="7515647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DWH – </a:t>
            </a:r>
            <a:r>
              <a:rPr lang="ru-RU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Хранилище данных. Это система для хранения и управления большими объемами</a:t>
            </a:r>
            <a:r>
              <a:rPr lang="en-US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структурированных данных, которые объединяются из различных источников с целью получения из них бизнес выгоды</a:t>
            </a:r>
            <a:r>
              <a:rPr lang="en-US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(G </a:t>
            </a:r>
            <a:r>
              <a:rPr lang="en-US" sz="3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BigQuerry</a:t>
            </a:r>
            <a:r>
              <a:rPr lang="en-US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Amazon Redshift, Snowflake, Greenplum)</a:t>
            </a:r>
            <a:r>
              <a:rPr lang="ru-RU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.</a:t>
            </a:r>
            <a:endParaRPr lang="en-US" sz="3600" b="1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Data Lake – </a:t>
            </a:r>
            <a:r>
              <a:rPr lang="ru-RU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Озеро данных. Это инструмент хранения необработанных(неструктурированных) данных в различных форматах</a:t>
            </a:r>
            <a:r>
              <a:rPr lang="en-US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(Amazon S3, </a:t>
            </a:r>
            <a:r>
              <a:rPr lang="en-US" sz="3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Minio</a:t>
            </a:r>
            <a:r>
              <a:rPr lang="en-US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G Cloud Storage, Yandex S3)</a:t>
            </a:r>
            <a:r>
              <a:rPr lang="ru-RU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.</a:t>
            </a:r>
            <a:endParaRPr lang="en-US" sz="36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Data Lakehouse – </a:t>
            </a:r>
            <a:r>
              <a:rPr lang="ru-RU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Объединение концепции </a:t>
            </a:r>
            <a:r>
              <a:rPr lang="en-US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DWH </a:t>
            </a:r>
            <a:r>
              <a:rPr lang="ru-RU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 </a:t>
            </a:r>
            <a:r>
              <a:rPr lang="en-US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Data Lake. </a:t>
            </a:r>
            <a:r>
              <a:rPr lang="ru-RU" sz="3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Храним все виды данных и управляем метаданными.</a:t>
            </a:r>
            <a:endParaRPr lang="en-US" sz="36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3218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/>
              <a:t>Storage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F0F531-5CF3-4E36-A586-216642137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09" y="2270299"/>
            <a:ext cx="18188281" cy="777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52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 err="1"/>
              <a:t>Science&amp;Experimentation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5E453C7B-ED76-4B03-A8E8-4292ED16666B}"/>
              </a:ext>
            </a:extLst>
          </p:cNvPr>
          <p:cNvSpPr txBox="1"/>
          <p:nvPr/>
        </p:nvSpPr>
        <p:spPr>
          <a:xfrm>
            <a:off x="1110892" y="2198291"/>
            <a:ext cx="17582118" cy="464191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Adhoc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запросы к источнику данных для получения метрик, подтверждения гипотез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;</a:t>
            </a: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Скрипты, аналитика и т.д.</a:t>
            </a:r>
            <a:endParaRPr lang="en-US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ML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модели.</a:t>
            </a:r>
          </a:p>
          <a:p>
            <a:pPr marL="750150" marR="707390" indent="-742950">
              <a:lnSpc>
                <a:spcPct val="150000"/>
              </a:lnSpc>
              <a:buFont typeface="+mj-lt"/>
              <a:buAutoNum type="arabicPeriod"/>
            </a:pPr>
            <a:endParaRPr lang="ru-RU" sz="4000" b="1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6662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/>
              <a:t>BI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274FA6-395F-4AD0-90E2-2510681E3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099" y="1903076"/>
            <a:ext cx="14219901" cy="855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03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Наши дни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B2A323-EFEC-40A0-9C88-A8C690173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082" y="0"/>
            <a:ext cx="11361895" cy="1136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0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Наши дни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E5430F-EAC0-43CE-AC06-FE39FFC02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039" y="1854621"/>
            <a:ext cx="16718022" cy="941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80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Наши дни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77133A-6A29-4993-9289-6897F5C2D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363" y="2270299"/>
            <a:ext cx="15557373" cy="875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13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white and gray sofa chair near window">
            <a:extLst>
              <a:ext uri="{FF2B5EF4-FFF2-40B4-BE49-F238E27FC236}">
                <a16:creationId xmlns:a16="http://schemas.microsoft.com/office/drawing/2014/main" id="{BCD95D0B-2384-23C0-3080-19620BAE0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04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3" y="5077273"/>
            <a:ext cx="8208912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Игроки на рынке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E772CF-8A49-4269-B255-E4597640A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955" y="0"/>
            <a:ext cx="11309350" cy="113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04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 err="1"/>
              <a:t>Tbank</a:t>
            </a:r>
            <a:r>
              <a:rPr lang="ru-RU" sz="8000" spc="45" dirty="0"/>
              <a:t>(</a:t>
            </a:r>
            <a:r>
              <a:rPr lang="en-US" sz="8000" spc="45" dirty="0"/>
              <a:t>~</a:t>
            </a:r>
            <a:r>
              <a:rPr lang="ru-RU" sz="8000" spc="45" dirty="0"/>
              <a:t>20</a:t>
            </a:r>
            <a:r>
              <a:rPr lang="en-US" sz="8000" spc="45" dirty="0"/>
              <a:t>18</a:t>
            </a:r>
            <a:r>
              <a:rPr lang="ru-RU" sz="8000" spc="45" dirty="0"/>
              <a:t>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D45E60-932C-4CF9-B995-E5B656504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908" y="2141753"/>
            <a:ext cx="14617624" cy="809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77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 err="1"/>
              <a:t>Сберздоровье</a:t>
            </a:r>
            <a:r>
              <a:rPr lang="ru-RU" sz="8000" spc="45" dirty="0"/>
              <a:t>(</a:t>
            </a:r>
            <a:r>
              <a:rPr lang="en-US" sz="8000" spc="45" dirty="0"/>
              <a:t>~</a:t>
            </a:r>
            <a:r>
              <a:rPr lang="ru-RU" sz="8000" spc="45" dirty="0"/>
              <a:t>2022)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3B8DA8-B8F0-4B8F-AE6A-4D7629690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542" y="2918371"/>
            <a:ext cx="12794817" cy="606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3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 err="1"/>
              <a:t>Okko</a:t>
            </a:r>
            <a:r>
              <a:rPr lang="ru-RU" sz="8000" spc="45" dirty="0"/>
              <a:t>(</a:t>
            </a:r>
            <a:r>
              <a:rPr lang="en-US" sz="8000" spc="45" dirty="0"/>
              <a:t>~</a:t>
            </a:r>
            <a:r>
              <a:rPr lang="ru-RU" sz="8000" spc="45" dirty="0"/>
              <a:t>20</a:t>
            </a:r>
            <a:r>
              <a:rPr lang="en-US" sz="8000" spc="45" dirty="0"/>
              <a:t>23</a:t>
            </a:r>
            <a:r>
              <a:rPr lang="ru-RU" sz="8000" spc="45" dirty="0"/>
              <a:t>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7A22B8-A0D1-455B-AD21-8E6B5C6C0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178" y="1916466"/>
            <a:ext cx="16102730" cy="865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52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LemanaPro</a:t>
            </a:r>
            <a:r>
              <a:rPr lang="en-US" sz="8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(~2022)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0E6C04-53C0-4E26-B1D5-EE65C5B31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98" y="1882824"/>
            <a:ext cx="17582118" cy="754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52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/>
              <a:t>Whoosh</a:t>
            </a:r>
            <a:r>
              <a:rPr lang="ru-RU" sz="8000" spc="45" dirty="0"/>
              <a:t>(</a:t>
            </a:r>
            <a:r>
              <a:rPr lang="en-US" sz="8000" spc="45" dirty="0"/>
              <a:t>~</a:t>
            </a:r>
            <a:r>
              <a:rPr lang="ru-RU" sz="8000" spc="45" dirty="0"/>
              <a:t>20</a:t>
            </a:r>
            <a:r>
              <a:rPr lang="en-US" sz="8000" spc="45" dirty="0"/>
              <a:t>23</a:t>
            </a:r>
            <a:r>
              <a:rPr lang="ru-RU" sz="8000" spc="45" dirty="0"/>
              <a:t>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2426C3-8A9F-4C9E-8297-04CBB427B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18" y="3405205"/>
            <a:ext cx="8889546" cy="491376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3E6A3B-C40A-4F75-8243-561C9A7A0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074" y="3405205"/>
            <a:ext cx="9529032" cy="491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87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 err="1"/>
              <a:t>BestDoctor</a:t>
            </a:r>
            <a:r>
              <a:rPr lang="en-US" sz="8000" spc="45" dirty="0"/>
              <a:t>(~2022)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1A4290-FE7B-4788-BE3B-64C9054E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357" y="2088171"/>
            <a:ext cx="13223188" cy="840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80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/>
              <a:t>Xbox Microsoft(~2022)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B0E520-6B38-4DF8-96ED-A6CEA3A07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318" y="2015141"/>
            <a:ext cx="13177464" cy="87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58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/>
              <a:t>Amazon Retail(~2022)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144557-EFAE-41F0-B7A7-A709A40DB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30" y="1765734"/>
            <a:ext cx="14902442" cy="873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23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 err="1"/>
              <a:t>Skyeng</a:t>
            </a:r>
            <a:r>
              <a:rPr lang="en-US" sz="8000" spc="45" dirty="0"/>
              <a:t>(~2025)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93E7CA-DE95-4D80-85D0-4E5C7527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19" y="2348192"/>
            <a:ext cx="14977664" cy="835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18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 err="1"/>
              <a:t>Y.Market</a:t>
            </a:r>
            <a:r>
              <a:rPr lang="en-US" sz="8000" spc="45" dirty="0"/>
              <a:t>(~2025)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1BE950-9717-460C-9BFE-5705C213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410" y="3134395"/>
            <a:ext cx="13547081" cy="730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77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 err="1"/>
              <a:t>Ostrovok</a:t>
            </a:r>
            <a:r>
              <a:rPr lang="en-US" sz="8000" spc="45" dirty="0"/>
              <a:t>(~2025)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F876D0-1372-48E1-B5F2-4BDB378E2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26" y="2054275"/>
            <a:ext cx="14833648" cy="814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64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Передовые решения</a:t>
            </a:r>
            <a:r>
              <a:rPr lang="en-US" sz="8000" spc="45" dirty="0"/>
              <a:t>(~2025)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08C8C-37DE-4390-8685-B5CE00459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693" y="2414315"/>
            <a:ext cx="15460713" cy="79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31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white and gray sofa chair near window">
            <a:extLst>
              <a:ext uri="{FF2B5EF4-FFF2-40B4-BE49-F238E27FC236}">
                <a16:creationId xmlns:a16="http://schemas.microsoft.com/office/drawing/2014/main" id="{BCD95D0B-2384-23C0-3080-19620BAE0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</a:t>
            </a: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5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Немного практики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D92D1B-74B4-4E0F-8A93-40B24983E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707" y="-30561"/>
            <a:ext cx="11393605" cy="1139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34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Настройка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110892" y="2185087"/>
            <a:ext cx="13981718" cy="2264018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hlinkClick r:id="rId2"/>
              </a:rPr>
              <a:t>https://www.docker.com/products/docker-desktop/</a:t>
            </a:r>
            <a:endParaRPr lang="ru-RU" sz="32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https://github.com/zezOtik/bmstu--iu8-big-data-tools</a:t>
            </a:r>
            <a:endParaRPr lang="ru-RU" sz="32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https://dbeaver.io/</a:t>
            </a:r>
            <a:endParaRPr lang="ru-RU" sz="32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1033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Пользовательские 1">
      <a:dk1>
        <a:srgbClr val="20282B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3" id="{EE6AD3C4-B290-364C-968D-E5878914A989}" vid="{A3BAB7C9-F885-9A4B-8B56-1604B14D1A9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15042</TotalTime>
  <Words>462</Words>
  <Application>Microsoft Office PowerPoint</Application>
  <PresentationFormat>Произвольный</PresentationFormat>
  <Paragraphs>98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4" baseType="lpstr">
      <vt:lpstr>Arial</vt:lpstr>
      <vt:lpstr>Calibri</vt:lpstr>
      <vt:lpstr>LM Main</vt:lpstr>
      <vt:lpstr>1_Office Theme</vt:lpstr>
      <vt:lpstr>Введение в BigData</vt:lpstr>
      <vt:lpstr>Содержание</vt:lpstr>
      <vt:lpstr>01</vt:lpstr>
      <vt:lpstr>Немного истории</vt:lpstr>
      <vt:lpstr>02</vt:lpstr>
      <vt:lpstr>Архитектура решений</vt:lpstr>
      <vt:lpstr>Source Layer</vt:lpstr>
      <vt:lpstr>Data processing</vt:lpstr>
      <vt:lpstr>Storage</vt:lpstr>
      <vt:lpstr>Storage</vt:lpstr>
      <vt:lpstr>Science&amp;Experimentation</vt:lpstr>
      <vt:lpstr>BI</vt:lpstr>
      <vt:lpstr>03</vt:lpstr>
      <vt:lpstr>Наши дни</vt:lpstr>
      <vt:lpstr>Наши дни</vt:lpstr>
      <vt:lpstr>04</vt:lpstr>
      <vt:lpstr>Tbank(~2018)</vt:lpstr>
      <vt:lpstr>Сберздоровье(~2022)</vt:lpstr>
      <vt:lpstr>Okko(~2023)</vt:lpstr>
      <vt:lpstr>LemanaPro(~2022)</vt:lpstr>
      <vt:lpstr>Whoosh(~2023)</vt:lpstr>
      <vt:lpstr>BestDoctor(~2022)</vt:lpstr>
      <vt:lpstr>Xbox Microsoft(~2022)</vt:lpstr>
      <vt:lpstr>Amazon Retail(~2022)</vt:lpstr>
      <vt:lpstr>Skyeng(~2025)</vt:lpstr>
      <vt:lpstr>Y.Market(~2025)</vt:lpstr>
      <vt:lpstr>Ostrovok(~2025)</vt:lpstr>
      <vt:lpstr>Передовые решения(~2025)</vt:lpstr>
      <vt:lpstr>05</vt:lpstr>
      <vt:lpstr>Настройка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 в несколько строчек</dc:title>
  <dc:creator>Microsoft Office User</dc:creator>
  <cp:lastModifiedBy>Михаил Зотов</cp:lastModifiedBy>
  <cp:revision>110</cp:revision>
  <dcterms:created xsi:type="dcterms:W3CDTF">2023-02-28T16:28:59Z</dcterms:created>
  <dcterms:modified xsi:type="dcterms:W3CDTF">2026-03-01T04:36:49Z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2023-01-12T00:00:00Z</vt:filetime>
  </property>
  <property fmtid="{D5CDD505-2E9C-101B-9397-08002B2CF9AE}" pid="3" name="Creator">
    <vt:lpwstr>Adobe Illustrator 26.3 (Macintosh)</vt:lpwstr>
  </property>
  <property fmtid="{D5CDD505-2E9C-101B-9397-08002B2CF9AE}" pid="4" name="LastSaved">
    <vt:filetime>2023-01-12T00:00:00Z</vt:filetime>
  </property>
</Properties>
</file>
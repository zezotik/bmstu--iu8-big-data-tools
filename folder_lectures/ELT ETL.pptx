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5"/>
  </p:notesMasterIdLst>
  <p:handoutMasterIdLst>
    <p:handoutMasterId r:id="rId46"/>
  </p:handoutMasterIdLst>
  <p:sldIdLst>
    <p:sldId id="284" r:id="rId2"/>
    <p:sldId id="292" r:id="rId3"/>
    <p:sldId id="294" r:id="rId4"/>
    <p:sldId id="290" r:id="rId5"/>
    <p:sldId id="342" r:id="rId6"/>
    <p:sldId id="300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7" r:id="rId31"/>
    <p:sldId id="368" r:id="rId32"/>
    <p:sldId id="369" r:id="rId33"/>
    <p:sldId id="370" r:id="rId34"/>
    <p:sldId id="376" r:id="rId35"/>
    <p:sldId id="371" r:id="rId36"/>
    <p:sldId id="372" r:id="rId37"/>
    <p:sldId id="373" r:id="rId38"/>
    <p:sldId id="374" r:id="rId39"/>
    <p:sldId id="377" r:id="rId40"/>
    <p:sldId id="375" r:id="rId41"/>
    <p:sldId id="378" r:id="rId42"/>
    <p:sldId id="379" r:id="rId43"/>
    <p:sldId id="380" r:id="rId44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5FBF3DB0-0C42-4472-A2B0-B7491ACB8383}">
          <p14:sldIdLst>
            <p14:sldId id="284"/>
            <p14:sldId id="292"/>
          </p14:sldIdLst>
        </p14:section>
        <p14:section name="Цели и причины перехода" id="{0A48036C-89C4-4681-94E5-7F4478CEBA7E}">
          <p14:sldIdLst>
            <p14:sldId id="294"/>
            <p14:sldId id="290"/>
            <p14:sldId id="342"/>
            <p14:sldId id="300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7"/>
            <p14:sldId id="368"/>
            <p14:sldId id="369"/>
            <p14:sldId id="370"/>
            <p14:sldId id="376"/>
            <p14:sldId id="371"/>
            <p14:sldId id="372"/>
            <p14:sldId id="373"/>
            <p14:sldId id="374"/>
            <p14:sldId id="377"/>
            <p14:sldId id="375"/>
            <p14:sldId id="378"/>
            <p14:sldId id="379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6739"/>
    <a:srgbClr val="2F3738"/>
    <a:srgbClr val="FDC300"/>
    <a:srgbClr val="BF8E3C"/>
    <a:srgbClr val="71B843"/>
    <a:srgbClr val="BE8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75" autoAdjust="0"/>
    <p:restoredTop sz="97686"/>
  </p:normalViewPr>
  <p:slideViewPr>
    <p:cSldViewPr>
      <p:cViewPr varScale="1">
        <p:scale>
          <a:sx n="97" d="100"/>
          <a:sy n="97" d="100"/>
        </p:scale>
        <p:origin x="642" y="1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272" y="4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9E08FC8-0D85-7C2F-1618-41A73DBE12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FEBAEE-6AC4-DE52-826D-27A3D20CE0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6D17D4-0BB9-A740-A06F-D7C1B8AE0211}" type="datetimeFigureOut">
              <a:rPr lang="ru-RU" smtClean="0"/>
              <a:t>07.04.2025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20A73F-3F07-2387-E20E-BE2438611C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7B12DB-FA1A-80A5-6827-680D681FDB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A60A3-520C-1C46-B181-6E8D469CAA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82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65575-ACE2-E544-8FA3-4F36DE28B8B3}" type="datetimeFigureOut">
              <a:rPr lang="ru-RU" smtClean="0"/>
              <a:t>07.04.2025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5687-F0C8-7D42-B125-68C511D064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95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22798" y="10058197"/>
            <a:ext cx="10369412" cy="2769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65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older 4">
            <a:extLst>
              <a:ext uri="{FF2B5EF4-FFF2-40B4-BE49-F238E27FC236}">
                <a16:creationId xmlns:a16="http://schemas.microsoft.com/office/drawing/2014/main" id="{BDD35CB0-3F80-DEC0-9D29-510028DA61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9" name="Holder 5">
            <a:extLst>
              <a:ext uri="{FF2B5EF4-FFF2-40B4-BE49-F238E27FC236}">
                <a16:creationId xmlns:a16="http://schemas.microsoft.com/office/drawing/2014/main" id="{8A2EC026-7555-AE21-334C-A7957D5B3D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542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older 4">
            <a:extLst>
              <a:ext uri="{FF2B5EF4-FFF2-40B4-BE49-F238E27FC236}">
                <a16:creationId xmlns:a16="http://schemas.microsoft.com/office/drawing/2014/main" id="{BDD35CB0-3F80-DEC0-9D29-510028DA61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9" name="Holder 5">
            <a:extLst>
              <a:ext uri="{FF2B5EF4-FFF2-40B4-BE49-F238E27FC236}">
                <a16:creationId xmlns:a16="http://schemas.microsoft.com/office/drawing/2014/main" id="{8A2EC026-7555-AE21-334C-A7957D5B3D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22798" y="9965864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438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37902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4" name="Holder 4">
            <a:extLst>
              <a:ext uri="{FF2B5EF4-FFF2-40B4-BE49-F238E27FC236}">
                <a16:creationId xmlns:a16="http://schemas.microsoft.com/office/drawing/2014/main" id="{A48AB5B7-BA22-2ED6-5925-4434DA4046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08771EA5-62EE-D56B-41B3-79A98198F78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Holder 2">
            <a:extLst>
              <a:ext uri="{FF2B5EF4-FFF2-40B4-BE49-F238E27FC236}">
                <a16:creationId xmlns:a16="http://schemas.microsoft.com/office/drawing/2014/main" id="{6665D1E6-6318-1ED4-5833-0C872D87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4605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Holder 6">
            <a:extLst>
              <a:ext uri="{FF2B5EF4-FFF2-40B4-BE49-F238E27FC236}">
                <a16:creationId xmlns:a16="http://schemas.microsoft.com/office/drawing/2014/main" id="{E4FA24F9-0FBD-C50C-C2CF-EED9924C3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Holder 2">
            <a:extLst>
              <a:ext uri="{FF2B5EF4-FFF2-40B4-BE49-F238E27FC236}">
                <a16:creationId xmlns:a16="http://schemas.microsoft.com/office/drawing/2014/main" id="{1BC54641-9E75-9604-C5B6-D90C9F30C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5" name="Holder 3">
            <a:extLst>
              <a:ext uri="{FF2B5EF4-FFF2-40B4-BE49-F238E27FC236}">
                <a16:creationId xmlns:a16="http://schemas.microsoft.com/office/drawing/2014/main" id="{AEC0800D-4BE4-C746-F3AE-3CBD9EB19D5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10892" y="10418751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2" name="Holder 3">
            <a:extLst>
              <a:ext uri="{FF2B5EF4-FFF2-40B4-BE49-F238E27FC236}">
                <a16:creationId xmlns:a16="http://schemas.microsoft.com/office/drawing/2014/main" id="{F730D433-B72F-1ACC-8454-C767BA859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7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10892" y="2601150"/>
            <a:ext cx="16754767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Holder 2">
            <a:extLst>
              <a:ext uri="{FF2B5EF4-FFF2-40B4-BE49-F238E27FC236}">
                <a16:creationId xmlns:a16="http://schemas.microsoft.com/office/drawing/2014/main" id="{6665D1E6-6318-1ED4-5833-0C872D87B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24A9E14C-2892-EB6D-F545-A3834F3D2F1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110892" y="10418751"/>
            <a:ext cx="103694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>
              <a:defRPr sz="2400"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946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>
            <a:extLst>
              <a:ext uri="{FF2B5EF4-FFF2-40B4-BE49-F238E27FC236}">
                <a16:creationId xmlns:a16="http://schemas.microsoft.com/office/drawing/2014/main" id="{C91D82D2-FB87-77AC-06A1-4CC05926812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36B22E5B-0934-35EA-2A16-D1B1EF25C7A4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3B1FDB6A-39CE-5713-B2FD-0EE0F92FF0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Holder 2">
            <a:extLst>
              <a:ext uri="{FF2B5EF4-FFF2-40B4-BE49-F238E27FC236}">
                <a16:creationId xmlns:a16="http://schemas.microsoft.com/office/drawing/2014/main" id="{CE69124C-7558-28D6-3356-E36AA4E13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chemeClr val="bg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717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671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1D027C-4786-CDD5-4BCD-5CF0E6F9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58"/>
          <a:stretch/>
        </p:blipFill>
        <p:spPr>
          <a:xfrm>
            <a:off x="-46844" y="-39302"/>
            <a:ext cx="10098893" cy="11393606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49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1D027C-4786-CDD5-4BCD-5CF0E6F97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58"/>
          <a:stretch/>
        </p:blipFill>
        <p:spPr>
          <a:xfrm flipH="1">
            <a:off x="10069351" y="-39302"/>
            <a:ext cx="10098893" cy="11393606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3D4D4EB5-1A53-3F7A-D7F4-D825749E14F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8" name="Holder 5">
            <a:extLst>
              <a:ext uri="{FF2B5EF4-FFF2-40B4-BE49-F238E27FC236}">
                <a16:creationId xmlns:a16="http://schemas.microsoft.com/office/drawing/2014/main" id="{C1095461-E725-2A19-0679-DDD7492406F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9" name="Holder 6">
            <a:extLst>
              <a:ext uri="{FF2B5EF4-FFF2-40B4-BE49-F238E27FC236}">
                <a16:creationId xmlns:a16="http://schemas.microsoft.com/office/drawing/2014/main" id="{1D6EC3D9-70E2-B79A-12B2-17C748879E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5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ite and gray sofa chair near window">
            <a:extLst>
              <a:ext uri="{FF2B5EF4-FFF2-40B4-BE49-F238E27FC236}">
                <a16:creationId xmlns:a16="http://schemas.microsoft.com/office/drawing/2014/main" id="{B5DE54E9-111B-BAC1-0020-C95A750099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1DAD2A-9B37-04C9-85A5-BAE6C01A00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D94CEC86-2752-B236-54AF-6A385BA51A3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18043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>
            <a:lvl1pPr>
              <a:defRPr>
                <a:solidFill>
                  <a:srgbClr val="2F3738"/>
                </a:solidFill>
              </a:defRPr>
            </a:lvl1pPr>
          </a:lstStyle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01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3BBCA2-49B4-0CCF-5558-A83A3F229B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1050" y="9615115"/>
            <a:ext cx="2753682" cy="70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250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white and gray sofa chair near window">
            <a:extLst>
              <a:ext uri="{FF2B5EF4-FFF2-40B4-BE49-F238E27FC236}">
                <a16:creationId xmlns:a16="http://schemas.microsoft.com/office/drawing/2014/main" id="{AA281AA1-55D2-F6B1-B33E-110867CF2F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AD6E4A-FEE0-BD1A-6EA5-DD0E6F304A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3BBCA2-49B4-0CCF-5558-A83A3F229BA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1050" y="9615115"/>
            <a:ext cx="2753682" cy="706884"/>
          </a:xfrm>
          <a:prstGeom prst="rect">
            <a:avLst/>
          </a:prstGeom>
        </p:spPr>
      </p:pic>
      <p:sp>
        <p:nvSpPr>
          <p:cNvPr id="5" name="Holder 2">
            <a:extLst>
              <a:ext uri="{FF2B5EF4-FFF2-40B4-BE49-F238E27FC236}">
                <a16:creationId xmlns:a16="http://schemas.microsoft.com/office/drawing/2014/main" id="{986F58C4-AE53-1DB4-6382-9117114D7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1445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246"/>
            <a:ext cx="20104100" cy="11303000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Holder 4">
            <a:extLst>
              <a:ext uri="{FF2B5EF4-FFF2-40B4-BE49-F238E27FC236}">
                <a16:creationId xmlns:a16="http://schemas.microsoft.com/office/drawing/2014/main" id="{A48AB5B7-BA22-2ED6-5925-4434DA4046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835394" y="10511084"/>
            <a:ext cx="6433312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lang="ru-RU"/>
          </a:p>
        </p:txBody>
      </p:sp>
      <p:sp>
        <p:nvSpPr>
          <p:cNvPr id="15" name="Holder 5">
            <a:extLst>
              <a:ext uri="{FF2B5EF4-FFF2-40B4-BE49-F238E27FC236}">
                <a16:creationId xmlns:a16="http://schemas.microsoft.com/office/drawing/2014/main" id="{08771EA5-62EE-D56B-41B3-79A98198F785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110892" y="10511084"/>
            <a:ext cx="4623943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Holder 2">
            <a:extLst>
              <a:ext uri="{FF2B5EF4-FFF2-40B4-BE49-F238E27FC236}">
                <a16:creationId xmlns:a16="http://schemas.microsoft.com/office/drawing/2014/main" id="{7C78A49C-8B2B-EE11-FDEC-15DAAC936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18018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43547" y="-21765"/>
            <a:ext cx="20191193" cy="11351966"/>
          </a:xfrm>
          <a:custGeom>
            <a:avLst/>
            <a:gdLst/>
            <a:ahLst/>
            <a:cxnLst/>
            <a:rect l="l" t="t" r="r" b="b"/>
            <a:pathLst>
              <a:path w="20097750" h="11303000">
                <a:moveTo>
                  <a:pt x="20097189" y="0"/>
                </a:moveTo>
                <a:lnTo>
                  <a:pt x="0" y="0"/>
                </a:lnTo>
                <a:lnTo>
                  <a:pt x="0" y="11302587"/>
                </a:lnTo>
                <a:lnTo>
                  <a:pt x="20097189" y="11302587"/>
                </a:lnTo>
                <a:lnTo>
                  <a:pt x="20097189" y="0"/>
                </a:lnTo>
                <a:close/>
              </a:path>
            </a:pathLst>
          </a:custGeom>
          <a:solidFill>
            <a:srgbClr val="FDC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7B27EDF-D218-0637-2685-7EBD896C1C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3547" y="-21765"/>
            <a:ext cx="7132411" cy="11351966"/>
          </a:xfrm>
          <a:prstGeom prst="rect">
            <a:avLst/>
          </a:prstGeom>
        </p:spPr>
      </p:pic>
      <p:sp>
        <p:nvSpPr>
          <p:cNvPr id="17" name="Holder 6">
            <a:extLst>
              <a:ext uri="{FF2B5EF4-FFF2-40B4-BE49-F238E27FC236}">
                <a16:creationId xmlns:a16="http://schemas.microsoft.com/office/drawing/2014/main" id="{50AB2077-880E-CE45-71B1-589D7A3114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6574400" y="10511084"/>
            <a:ext cx="27432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fld id="{B6F15528-21DE-4FAA-801E-634DDDAF4B2B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Holder 2">
            <a:extLst>
              <a:ext uri="{FF2B5EF4-FFF2-40B4-BE49-F238E27FC236}">
                <a16:creationId xmlns:a16="http://schemas.microsoft.com/office/drawing/2014/main" id="{589A48DC-38F8-4D89-CDF3-C4AF715125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91810" y="4980761"/>
            <a:ext cx="10945216" cy="11079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>
              <a:defRPr sz="7200" b="1" i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</a:defRPr>
            </a:lvl1pPr>
          </a:lstStyle>
          <a:p>
            <a:r>
              <a:rPr lang="ru-RU" dirty="0"/>
              <a:t>Текст слайда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1934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623144"/>
            <a:ext cx="17475305" cy="4077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30.07.2024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355695" y="10517696"/>
            <a:ext cx="274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195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6" r:id="rId2"/>
    <p:sldLayoutId id="2147483668" r:id="rId3"/>
    <p:sldLayoutId id="2147483669" r:id="rId4"/>
    <p:sldLayoutId id="2147483680" r:id="rId5"/>
    <p:sldLayoutId id="2147483679" r:id="rId6"/>
    <p:sldLayoutId id="2147483670" r:id="rId7"/>
    <p:sldLayoutId id="2147483671" r:id="rId8"/>
    <p:sldLayoutId id="2147483677" r:id="rId9"/>
    <p:sldLayoutId id="2147483678" r:id="rId10"/>
    <p:sldLayoutId id="2147483674" r:id="rId11"/>
    <p:sldLayoutId id="2147483675" r:id="rId12"/>
    <p:sldLayoutId id="2147483672" r:id="rId13"/>
    <p:sldLayoutId id="2147483673" r:id="rId14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E19323-4714-6053-1666-FBB86EF016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1051050" y="3538706"/>
            <a:ext cx="8694736" cy="1593384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spcBef>
                <a:spcPts val="1864"/>
              </a:spcBef>
            </a:pPr>
            <a:r>
              <a:rPr lang="en-US" sz="8800" dirty="0">
                <a:solidFill>
                  <a:srgbClr val="2F3738"/>
                </a:solidFill>
              </a:rPr>
              <a:t>ELT|ETL</a:t>
            </a:r>
            <a:endParaRPr sz="8800" dirty="0">
              <a:solidFill>
                <a:schemeClr val="bg1"/>
              </a:solidFill>
            </a:endParaRP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4CA1D690-F233-4987-AE36-5585C6687DA5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r>
              <a:rPr lang="en-US" dirty="0"/>
              <a:t>08</a:t>
            </a:r>
            <a:r>
              <a:rPr lang="ru-RU" dirty="0"/>
              <a:t>.0</a:t>
            </a:r>
            <a:r>
              <a:rPr lang="en-US" dirty="0"/>
              <a:t>4</a:t>
            </a:r>
            <a:r>
              <a:rPr lang="ru-RU" dirty="0"/>
              <a:t>.2025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70B591-7236-49E4-AF09-DBA6A409C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914" y="12190"/>
            <a:ext cx="14641867" cy="113936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75838" y="2292942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en-US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1</a:t>
            </a:r>
            <a:endParaRPr lang="ru-RU" sz="44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11BEA4-E835-9F14-91D7-81C58966C06B}"/>
              </a:ext>
            </a:extLst>
          </p:cNvPr>
          <p:cNvSpPr txBox="1"/>
          <p:nvPr/>
        </p:nvSpPr>
        <p:spPr>
          <a:xfrm>
            <a:off x="18712066" y="10335195"/>
            <a:ext cx="6986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>
                <a:solidFill>
                  <a:schemeClr val="bg1"/>
                </a:solidFill>
                <a:latin typeface="LM Main" panose="020B0000000000000000" pitchFamily="34" charset="0"/>
                <a:ea typeface="LM Main" panose="020B0000000000000000" pitchFamily="34" charset="0"/>
              </a:rPr>
              <a:t>00</a:t>
            </a:r>
          </a:p>
        </p:txBody>
      </p:sp>
      <p:sp>
        <p:nvSpPr>
          <p:cNvPr id="20" name="object 7">
            <a:extLst>
              <a:ext uri="{FF2B5EF4-FFF2-40B4-BE49-F238E27FC236}">
                <a16:creationId xmlns:a16="http://schemas.microsoft.com/office/drawing/2014/main" id="{1CF2F8D2-7D7C-3205-8346-A213E02E5733}"/>
              </a:ext>
            </a:extLst>
          </p:cNvPr>
          <p:cNvSpPr txBox="1"/>
          <p:nvPr/>
        </p:nvSpPr>
        <p:spPr>
          <a:xfrm>
            <a:off x="2339015" y="2321998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Что такое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ETL\ELT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8FCBC55-AD0C-042A-1C03-47FDCB6499ED}"/>
              </a:ext>
            </a:extLst>
          </p:cNvPr>
          <p:cNvSpPr/>
          <p:nvPr/>
        </p:nvSpPr>
        <p:spPr>
          <a:xfrm rot="5400000">
            <a:off x="1391120" y="2809717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E26F303A-FD7B-D57E-552A-30E14B07CDD4}"/>
              </a:ext>
            </a:extLst>
          </p:cNvPr>
          <p:cNvSpPr txBox="1"/>
          <p:nvPr/>
        </p:nvSpPr>
        <p:spPr>
          <a:xfrm>
            <a:off x="1075838" y="3717208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2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49FFB33F-A0A9-D33A-F874-9A68141D0DF8}"/>
              </a:ext>
            </a:extLst>
          </p:cNvPr>
          <p:cNvSpPr txBox="1"/>
          <p:nvPr/>
        </p:nvSpPr>
        <p:spPr>
          <a:xfrm>
            <a:off x="2339015" y="3747985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AAEBFA6-01B3-A2E6-5B0D-C1221D3A6685}"/>
              </a:ext>
            </a:extLst>
          </p:cNvPr>
          <p:cNvSpPr/>
          <p:nvPr/>
        </p:nvSpPr>
        <p:spPr>
          <a:xfrm rot="5400000">
            <a:off x="1391120" y="4233983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40BB7AA1-6E1B-1277-7467-8B99ED4B4C26}"/>
              </a:ext>
            </a:extLst>
          </p:cNvPr>
          <p:cNvSpPr txBox="1"/>
          <p:nvPr/>
        </p:nvSpPr>
        <p:spPr>
          <a:xfrm>
            <a:off x="1110892" y="5182657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3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E714D5C2-832D-8A31-36DD-0CA6F4C132BC}"/>
              </a:ext>
            </a:extLst>
          </p:cNvPr>
          <p:cNvSpPr/>
          <p:nvPr/>
        </p:nvSpPr>
        <p:spPr>
          <a:xfrm rot="5400000">
            <a:off x="1426174" y="5699432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object 7">
            <a:extLst>
              <a:ext uri="{FF2B5EF4-FFF2-40B4-BE49-F238E27FC236}">
                <a16:creationId xmlns:a16="http://schemas.microsoft.com/office/drawing/2014/main" id="{CE076F68-70DB-5176-DC57-B950FA0C64AC}"/>
              </a:ext>
            </a:extLst>
          </p:cNvPr>
          <p:cNvSpPr txBox="1"/>
          <p:nvPr/>
        </p:nvSpPr>
        <p:spPr>
          <a:xfrm>
            <a:off x="1075838" y="6653032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4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C4CBAF0-F3AC-0EBB-57F7-E347CF1EBC33}"/>
              </a:ext>
            </a:extLst>
          </p:cNvPr>
          <p:cNvSpPr/>
          <p:nvPr/>
        </p:nvSpPr>
        <p:spPr>
          <a:xfrm rot="5400000">
            <a:off x="1391120" y="7169807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Номер слайда 40">
            <a:extLst>
              <a:ext uri="{FF2B5EF4-FFF2-40B4-BE49-F238E27FC236}">
                <a16:creationId xmlns:a16="http://schemas.microsoft.com/office/drawing/2014/main" id="{06BA4384-8B5D-A442-E619-D265CD534BF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38" name="Заголовок 37">
            <a:extLst>
              <a:ext uri="{FF2B5EF4-FFF2-40B4-BE49-F238E27FC236}">
                <a16:creationId xmlns:a16="http://schemas.microsoft.com/office/drawing/2014/main" id="{4D86283F-B8BD-1EB8-14C4-2E882A285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6649080" cy="1200329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19" name="object 7">
            <a:extLst>
              <a:ext uri="{FF2B5EF4-FFF2-40B4-BE49-F238E27FC236}">
                <a16:creationId xmlns:a16="http://schemas.microsoft.com/office/drawing/2014/main" id="{2D11A3B7-3D6C-4634-955C-23B4F598F133}"/>
              </a:ext>
            </a:extLst>
          </p:cNvPr>
          <p:cNvSpPr txBox="1"/>
          <p:nvPr/>
        </p:nvSpPr>
        <p:spPr>
          <a:xfrm>
            <a:off x="2339015" y="5277328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21" name="object 7">
            <a:extLst>
              <a:ext uri="{FF2B5EF4-FFF2-40B4-BE49-F238E27FC236}">
                <a16:creationId xmlns:a16="http://schemas.microsoft.com/office/drawing/2014/main" id="{25591500-8C5D-49BD-ACED-7231050A9B63}"/>
              </a:ext>
            </a:extLst>
          </p:cNvPr>
          <p:cNvSpPr txBox="1"/>
          <p:nvPr/>
        </p:nvSpPr>
        <p:spPr>
          <a:xfrm>
            <a:off x="2337622" y="6683809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Этапы процессов</a:t>
            </a:r>
          </a:p>
        </p:txBody>
      </p:sp>
      <p:sp>
        <p:nvSpPr>
          <p:cNvPr id="36" name="object 7">
            <a:extLst>
              <a:ext uri="{FF2B5EF4-FFF2-40B4-BE49-F238E27FC236}">
                <a16:creationId xmlns:a16="http://schemas.microsoft.com/office/drawing/2014/main" id="{A32BB49D-9DDA-444F-BF09-3B1ADB237ADC}"/>
              </a:ext>
            </a:extLst>
          </p:cNvPr>
          <p:cNvSpPr txBox="1"/>
          <p:nvPr/>
        </p:nvSpPr>
        <p:spPr>
          <a:xfrm>
            <a:off x="1075838" y="8201882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5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FD3F3DC-38BE-4524-A716-04152C9C31FA}"/>
              </a:ext>
            </a:extLst>
          </p:cNvPr>
          <p:cNvSpPr/>
          <p:nvPr/>
        </p:nvSpPr>
        <p:spPr>
          <a:xfrm rot="5400000">
            <a:off x="1391120" y="8718657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object 7">
            <a:extLst>
              <a:ext uri="{FF2B5EF4-FFF2-40B4-BE49-F238E27FC236}">
                <a16:creationId xmlns:a16="http://schemas.microsoft.com/office/drawing/2014/main" id="{8A975616-0D7E-46B5-B232-CF79C2806205}"/>
              </a:ext>
            </a:extLst>
          </p:cNvPr>
          <p:cNvSpPr txBox="1"/>
          <p:nvPr/>
        </p:nvSpPr>
        <p:spPr>
          <a:xfrm>
            <a:off x="2337622" y="8232659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Детальное сравнение</a:t>
            </a: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7DEEFA03-29C8-4CE2-8512-B6F6D28EF6EB}"/>
              </a:ext>
            </a:extLst>
          </p:cNvPr>
          <p:cNvSpPr txBox="1"/>
          <p:nvPr/>
        </p:nvSpPr>
        <p:spPr>
          <a:xfrm>
            <a:off x="1075838" y="9419637"/>
            <a:ext cx="508024" cy="816249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400" b="1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6</a:t>
            </a:r>
            <a:endParaRPr lang="ru-RU" sz="44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E32A9E3-45C9-4747-B7D6-B70F16C7D8D0}"/>
              </a:ext>
            </a:extLst>
          </p:cNvPr>
          <p:cNvSpPr/>
          <p:nvPr/>
        </p:nvSpPr>
        <p:spPr>
          <a:xfrm rot="5400000">
            <a:off x="1391120" y="9936412"/>
            <a:ext cx="122634" cy="753198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object 7">
            <a:extLst>
              <a:ext uri="{FF2B5EF4-FFF2-40B4-BE49-F238E27FC236}">
                <a16:creationId xmlns:a16="http://schemas.microsoft.com/office/drawing/2014/main" id="{60936DC3-56C7-4C37-9483-510ED88C33D7}"/>
              </a:ext>
            </a:extLst>
          </p:cNvPr>
          <p:cNvSpPr txBox="1"/>
          <p:nvPr/>
        </p:nvSpPr>
        <p:spPr>
          <a:xfrm>
            <a:off x="2337622" y="9450414"/>
            <a:ext cx="8856984" cy="754694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4000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Примеры</a:t>
            </a:r>
          </a:p>
        </p:txBody>
      </p:sp>
    </p:spTree>
    <p:extLst>
      <p:ext uri="{BB962C8B-B14F-4D97-AF65-F5344CB8AC3E}">
        <p14:creationId xmlns:p14="http://schemas.microsoft.com/office/powerpoint/2010/main" val="2687979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white and gray sofa chair near window">
            <a:extLst>
              <a:ext uri="{FF2B5EF4-FFF2-40B4-BE49-F238E27FC236}">
                <a16:creationId xmlns:a16="http://schemas.microsoft.com/office/drawing/2014/main" id="{BCD95D0B-2384-23C0-3080-19620BAE0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0" y="-37990"/>
            <a:ext cx="15554546" cy="1138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01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3" y="5031107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Что такое </a:t>
            </a:r>
            <a:r>
              <a:rPr lang="en-US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ELT|ETL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8969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Что такое </a:t>
            </a:r>
            <a:r>
              <a:rPr lang="en-US" sz="8000" spc="45" dirty="0"/>
              <a:t>ETL|ELT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556524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- 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это способ доставки данных из одного или нескольких источников в централизованную систему для удобства доступа и анализа.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Оба способа состоят из этапов 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extract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(извлечение)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transform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(преобразование)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 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load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(загрузки).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Разница заключается в последовательности действий.</a:t>
            </a:r>
            <a:endParaRPr lang="ru-RU" sz="4000" b="1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9608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Основное различие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464191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Основное различие между ними заключается в том, что 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КОГДА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и 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ГДЕ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выполняется преобразование и загрузка данных.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 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данные преобразуются на временном этапе подготовки 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ДО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того, как они(данные) попадут в конечную точку.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 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данные преобразуются после их загрузки в конечную точку.</a:t>
            </a:r>
          </a:p>
        </p:txBody>
      </p:sp>
    </p:spTree>
    <p:extLst>
      <p:ext uri="{BB962C8B-B14F-4D97-AF65-F5344CB8AC3E}">
        <p14:creationId xmlns:p14="http://schemas.microsoft.com/office/powerpoint/2010/main" val="81203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02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en-US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8551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/>
              <a:t>ETL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464191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это сокращение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extraction, transformation &amp; loading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то есть это процесс сбора «сырых»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raw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данных из раздельных источников, передача их(данные) в промежуточную БД для преобразования и загрузки подготовленных данных в конечную точку.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160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/>
              <a:t>ETL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D2C69D-855A-4756-9CC0-ED3873080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246" y="1894565"/>
            <a:ext cx="14473608" cy="822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41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Зачем т</a:t>
            </a:r>
            <a:r>
              <a:rPr lang="ru-RU" sz="8000" spc="45" dirty="0"/>
              <a:t>рансформировать до?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741190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Трансформируются данные до загрузки в хранилище, чтобы удовлетворить требованиям СУБД и/или для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OLAP(online analytical processing,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аналитическая БД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.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Технология возникла в 1970-х, когда компании начали использовать БД для покрытия бизнес процессов, после появления первых хранилищ(конец 1980-х) стало основным способов загрузки данных до середины 2000-х. С ростом количества информации и различных типов,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становился не эффективным и дорогостоящим способом.</a:t>
            </a:r>
          </a:p>
        </p:txBody>
      </p:sp>
    </p:spTree>
    <p:extLst>
      <p:ext uri="{BB962C8B-B14F-4D97-AF65-F5344CB8AC3E}">
        <p14:creationId xmlns:p14="http://schemas.microsoft.com/office/powerpoint/2010/main" val="1885116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03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en-US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177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/>
              <a:t>ELT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464191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это сокращение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extraction, loading &amp; transformation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то есть это процесс сбора «сырых»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raw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данных из раздельных источников, передача их(данные) на прямую в конечную точку, где после происходят преобразования.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8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/>
              <a:t>ELT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94859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63EBBB-89BC-461B-8320-F591E1F0E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258" y="1854621"/>
            <a:ext cx="15337704" cy="861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03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en-US" sz="8000" spc="45" dirty="0"/>
              <a:t>ELT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556524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Такой подход стал возможен благодаря развитию технологий, позволяющих хранить и обрабатывать огромные объемы данных в любом формате. В том числе и благодаря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Apache Hadoop –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опенсорс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ПО. Большое количество облачных решений, например,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Snowflake, Redshift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поддерживают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ELT,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т.к. они разделяют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compute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storage.</a:t>
            </a: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452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</a:t>
            </a: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4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Этапы процессов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5772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Извлечение(</a:t>
            </a:r>
            <a:r>
              <a:rPr lang="en-US" sz="8000" spc="45" dirty="0"/>
              <a:t>Extract)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371858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Первый этап начинается с извлечения данных с источников –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ERP, CRM, SQL, NoSQL,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приложений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SaaS,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вебсервисы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неструктурированные файлы, и т.п.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50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Извлечение(</a:t>
            </a:r>
            <a:r>
              <a:rPr lang="en-US" sz="8000" spc="45" dirty="0"/>
              <a:t>Extract)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833523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Извлечение данных происходит одним из трех способов: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Полное извлечение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(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Full </a:t>
            </a:r>
            <a:r>
              <a:rPr lang="en-US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init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полное извлечение данных из источника, каждый запуск работа шага </a:t>
            </a: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extract</a:t>
            </a: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то есть извлекаются все записи, как старые и так и новые.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Инкрементное извлечение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частичное извлечение данных с момента последнего извлечения, что снижает нагрузку на систему.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Настройка уведомление –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это источник, настраивает процесс автоматического процесса извлечения.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1455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Преобразование(</a:t>
            </a:r>
            <a:r>
              <a:rPr lang="en-US" sz="8000" spc="45" dirty="0"/>
              <a:t>Transform)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371858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 преобразование входит последовательность действий, нацеленных на подготовку данных для изменениях их под конечную систему или для достижения конечного/промежуточного результата.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3018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Преобразование(</a:t>
            </a:r>
            <a:r>
              <a:rPr lang="en-US" sz="8000" spc="45" dirty="0"/>
              <a:t>Transform)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741190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Операции, которые могут быть: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Сортировка, фильтрация;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Очистка, удаление дубликатов;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Нормализация данных;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Преобразование, транслирование типов данных;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Объединение, разделение таблиц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И т.д.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8942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Преобразование(</a:t>
            </a:r>
            <a:r>
              <a:rPr lang="en-US" sz="8000" spc="45" dirty="0"/>
              <a:t>Transform)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556524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Важно отметить, что все преобразования происходят вне целевой системы. Этим процессом обычно занимаются дата-инженеры. Все преобразования происходят по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pipeline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, то есть если нужно применить новый тип анализа к данным, необходимо модифицировать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pipeline.</a:t>
            </a: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8016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Преобразование(</a:t>
            </a:r>
            <a:r>
              <a:rPr lang="en-US" sz="8000" spc="45" dirty="0"/>
              <a:t>Transform)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371858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Сырые данные доступны для всех пользователей конечной системы. Эти данные могут подвергаться бесчисленным преобразованиям.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3633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spc="45" dirty="0"/>
              <a:t>Загрузка(</a:t>
            </a:r>
            <a:r>
              <a:rPr lang="en-US" sz="8000" spc="45" dirty="0"/>
              <a:t>Load)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648857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Загрузка подготовленных данных в конечную систему ХД, чтобы данные уже были доступны пользователям.</a:t>
            </a:r>
          </a:p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Сырые данные хранятся в конечной системе, сокращенно время на извлечение-доставку.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187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</a:t>
            </a: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5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Детальное сравнение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6635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Зрелость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833523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Много опытных специалистов и наработок, много инструментов.</a:t>
            </a:r>
          </a:p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Относительно новая методология, т.е. меньше сообщество и меньше профессиональных компетенций, соответственно и сами инструменты на ранних стадия развития.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>
              <a:lnSpc>
                <a:spcPct val="150000"/>
              </a:lnSpc>
            </a:pP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взрослее и надежнее.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541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231106"/>
          </a:xfrm>
        </p:spPr>
        <p:txBody>
          <a:bodyPr/>
          <a:lstStyle/>
          <a:p>
            <a:pPr marL="7200" marR="707390"/>
            <a:r>
              <a:rPr lang="ru-RU" sz="8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Тип и размер данных</a:t>
            </a:r>
            <a:endParaRPr lang="ru-RU" sz="80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4641912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Структурированные данные.</a:t>
            </a:r>
          </a:p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Большие объемы данных, любого типа.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8723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Поддержка хранилищ/озер данных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648857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Применяет при работе с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OLAP,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реляционными СУБД</a:t>
            </a:r>
          </a:p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Современный метод, который можно использовать с облачными хранилищами и озерами данных</a:t>
            </a:r>
          </a:p>
          <a:p>
            <a:pPr marL="7200" marR="707390">
              <a:lnSpc>
                <a:spcPct val="150000"/>
              </a:lnSpc>
            </a:pP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взрослее и надежнее.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9243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Затраты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648857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Требует дополнительные мощности на преобразования данных.</a:t>
            </a:r>
          </a:p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Экономически эффективнее, т.к. нет сопутствующих расходов на обработку.</a:t>
            </a:r>
          </a:p>
          <a:p>
            <a:pPr marL="7200" marR="707390">
              <a:lnSpc>
                <a:spcPct val="150000"/>
              </a:lnSpc>
            </a:pP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взрослее и надежнее.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7759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Обслуживание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648857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  <a:endParaRPr lang="ru-RU" sz="4000" b="1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Требует обслуживание со стороны специалистов, понимание процессов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pipeline.</a:t>
            </a:r>
          </a:p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Зачастую это облачное решение с автоматизированными функциями, т.е. нужно только платить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1810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Время загрузки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648857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Зависит от времени преобразования, так как необходимо подготовить структуру.</a:t>
            </a:r>
          </a:p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Ощутимо меньше время загрузки стандартного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ETL.</a:t>
            </a: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7200" marR="707390">
              <a:lnSpc>
                <a:spcPct val="150000"/>
              </a:lnSpc>
            </a:pP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взрослее и надежнее.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4731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Время преобразования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556524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Затратная процедура на отдельных ресурсах.</a:t>
            </a:r>
          </a:p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За преобразования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ответственена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конечная система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При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преобразования занимают меньше времени.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8611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Комплаенс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648857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Позволяет маркировать данные на процессе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transform. 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Осуществлять различные требования НПА(ФЗ-152, </a:t>
            </a:r>
            <a:r>
              <a:rPr lang="en-US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GPDR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) </a:t>
            </a:r>
          </a:p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Данные загружаются, как есть. Без дополнительных обраток и маркировок.</a:t>
            </a:r>
          </a:p>
          <a:p>
            <a:pPr marL="7200" marR="707390">
              <a:lnSpc>
                <a:spcPct val="150000"/>
              </a:lnSpc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76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Области применения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556524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Для обеспечения стартам защиты уязвимых данных(персональные данные, конфиденциальные данные);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Компания работает только структурированными данными и/или небольшим объемом данных;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Есть большой/огромный реляционный источник(легаси система).</a:t>
            </a:r>
          </a:p>
        </p:txBody>
      </p:sp>
    </p:spTree>
    <p:extLst>
      <p:ext uri="{BB962C8B-B14F-4D97-AF65-F5344CB8AC3E}">
        <p14:creationId xmlns:p14="http://schemas.microsoft.com/office/powerpoint/2010/main" val="36900639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ru-RU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Области применения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6488571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en-US" sz="40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Необходима аналитики в реальном времени;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Компания работает с большим количеством данных, зачастую с </a:t>
            </a:r>
            <a:r>
              <a:rPr lang="ru-RU" sz="4000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нереляционными</a:t>
            </a: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 источниками и т.д.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Большое количество специалистов, которым нужен доступ до сырых данных;</a:t>
            </a:r>
          </a:p>
          <a:p>
            <a:pPr marL="750150" marR="707390" indent="-742950">
              <a:lnSpc>
                <a:spcPct val="150000"/>
              </a:lnSpc>
              <a:buAutoNum type="arabicParenR"/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Большое количество облачных проектов и гибридных архитектур.</a:t>
            </a:r>
          </a:p>
        </p:txBody>
      </p:sp>
    </p:spTree>
    <p:extLst>
      <p:ext uri="{BB962C8B-B14F-4D97-AF65-F5344CB8AC3E}">
        <p14:creationId xmlns:p14="http://schemas.microsoft.com/office/powerpoint/2010/main" val="1463046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0A6700C-B01D-CDC8-B130-A99E083AD2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078" y="-39302"/>
            <a:ext cx="19075484" cy="11393606"/>
          </a:xfrm>
          <a:prstGeom prst="rect">
            <a:avLst/>
          </a:prstGeom>
        </p:spPr>
      </p:pic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5F6006AC-240E-D99A-46F0-BB8F7E9CAA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979042" y="2270299"/>
            <a:ext cx="4968552" cy="2174312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marL="12700" marR="5080">
              <a:lnSpc>
                <a:spcPts val="11000"/>
              </a:lnSpc>
              <a:spcBef>
                <a:spcPts val="1864"/>
              </a:spcBef>
            </a:pPr>
            <a:r>
              <a:rPr lang="en-US" sz="30000" dirty="0">
                <a:latin typeface="LM Main" panose="020B0000000000000000" pitchFamily="34" charset="0"/>
                <a:ea typeface="LM Main" panose="020B0000000000000000" pitchFamily="34" charset="0"/>
              </a:rPr>
              <a:t>0</a:t>
            </a:r>
            <a:r>
              <a:rPr lang="ru-RU" sz="30000" dirty="0">
                <a:latin typeface="LM Main" panose="020B0000000000000000" pitchFamily="34" charset="0"/>
                <a:ea typeface="LM Main" panose="020B0000000000000000" pitchFamily="34" charset="0"/>
              </a:rPr>
              <a:t>6</a:t>
            </a:r>
            <a:endParaRPr sz="30000" dirty="0">
              <a:latin typeface="LM Main" panose="020B0000000000000000" pitchFamily="34" charset="0"/>
              <a:ea typeface="LM Main" panose="020B0000000000000000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580B87-A9EA-4B52-8F1A-73C742168700}"/>
              </a:ext>
            </a:extLst>
          </p:cNvPr>
          <p:cNvSpPr txBox="1"/>
          <p:nvPr/>
        </p:nvSpPr>
        <p:spPr>
          <a:xfrm>
            <a:off x="979042" y="5077273"/>
            <a:ext cx="11593287" cy="115480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/>
            <a:r>
              <a:rPr lang="ru-RU" sz="66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Примеры</a:t>
            </a:r>
            <a:endParaRPr lang="ru-RU" sz="66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23872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en-US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ETL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1796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en-US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Informatica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6EC1DB77-DAE9-4637-8B75-9C0C27481E72}"/>
              </a:ext>
            </a:extLst>
          </p:cNvPr>
          <p:cNvSpPr txBox="1"/>
          <p:nvPr/>
        </p:nvSpPr>
        <p:spPr>
          <a:xfrm>
            <a:off x="1110892" y="2486323"/>
            <a:ext cx="17726134" cy="94859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7200" marR="707390">
              <a:lnSpc>
                <a:spcPct val="150000"/>
              </a:lnSpc>
            </a:pPr>
            <a:r>
              <a:rPr lang="ru-RU" sz="4000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Американская компания основанная в 1993 году.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98FFF8-E886-499C-896E-31AFAB9C5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101" y="3434916"/>
            <a:ext cx="113157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171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en-US" sz="7200" spc="45" dirty="0" err="1"/>
              <a:t>Nifi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18104E-46E3-4A1B-9D93-D5AE71123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012" y="2126283"/>
            <a:ext cx="8982075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780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en-US" sz="7200" spc="45" dirty="0"/>
              <a:t>AWS Glue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A5BE32-2406-41C7-A8FD-6CA8E6E3A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062" y="2342307"/>
            <a:ext cx="14277975" cy="717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39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en-US" sz="7200" spc="45" dirty="0"/>
              <a:t>Google Cloud Dataflow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0EC4D7-F474-40EE-A689-A60C87EC3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391" y="2014676"/>
            <a:ext cx="15963900" cy="798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262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en-US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ELT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70591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en-US" sz="7200" spc="45" dirty="0"/>
              <a:t>Snowflake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5281E8-C911-464A-B47E-5EF9EE10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716" y="2054275"/>
            <a:ext cx="16097250" cy="772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14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en-US" sz="7200" b="1" spc="45" dirty="0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DBT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717A8D-4EF9-4027-A493-6F1DAAFBF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338" y="1731511"/>
            <a:ext cx="10601424" cy="798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79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643AB704-E2AE-CCAD-A4DA-53526898F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0892" y="623515"/>
            <a:ext cx="17582118" cy="1107996"/>
          </a:xfrm>
        </p:spPr>
        <p:txBody>
          <a:bodyPr/>
          <a:lstStyle/>
          <a:p>
            <a:pPr marL="7200" marR="707390"/>
            <a:r>
              <a:rPr lang="en-US" sz="7200" b="1" spc="45" dirty="0" err="1">
                <a:solidFill>
                  <a:srgbClr val="2F3738"/>
                </a:solidFill>
                <a:latin typeface="LM Main" panose="020B0000000000000000" pitchFamily="34" charset="0"/>
                <a:ea typeface="LM Main" panose="020B0000000000000000" pitchFamily="34" charset="0"/>
                <a:cs typeface="Arial"/>
              </a:rPr>
              <a:t>Matillion</a:t>
            </a:r>
            <a:endParaRPr lang="ru-RU" sz="7200" b="1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653F30-35DA-4E6F-B586-96AA93B89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426" y="1910259"/>
            <a:ext cx="14497050" cy="794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513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6D8D6AD9-C082-28E1-0C1B-94460159FC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5F97D08-330D-4796-8DD8-8276F3C82441}"/>
              </a:ext>
            </a:extLst>
          </p:cNvPr>
          <p:cNvSpPr txBox="1"/>
          <p:nvPr/>
        </p:nvSpPr>
        <p:spPr>
          <a:xfrm>
            <a:off x="1079592" y="2702347"/>
            <a:ext cx="18333498" cy="2601353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578700" marR="70739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4000" spc="45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  <a:p>
            <a:pPr marL="578700" marR="707390" indent="-571500">
              <a:buFont typeface="Arial" panose="020B0604020202020204" pitchFamily="34" charset="0"/>
              <a:buChar char="•"/>
            </a:pPr>
            <a:endParaRPr lang="ru-RU" sz="4000" dirty="0">
              <a:solidFill>
                <a:srgbClr val="2F3738"/>
              </a:solidFill>
              <a:latin typeface="LM Main" panose="020B0000000000000000" pitchFamily="34" charset="0"/>
              <a:ea typeface="LM Main" panose="020B0000000000000000" pitchFamily="34" charset="0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A27D37-37F9-449C-A415-B0B2F3C9B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526" y="1982267"/>
            <a:ext cx="14081047" cy="751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480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Пользовательские 1">
      <a:dk1>
        <a:srgbClr val="20282B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3" id="{EE6AD3C4-B290-364C-968D-E5878914A989}" vid="{A3BAB7C9-F885-9A4B-8B56-1604B14D1A9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14644</TotalTime>
  <Words>1006</Words>
  <Application>Microsoft Office PowerPoint</Application>
  <PresentationFormat>Произвольный</PresentationFormat>
  <Paragraphs>218</Paragraphs>
  <Slides>43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7" baseType="lpstr">
      <vt:lpstr>Arial</vt:lpstr>
      <vt:lpstr>Calibri</vt:lpstr>
      <vt:lpstr>LM Main</vt:lpstr>
      <vt:lpstr>1_Office Theme</vt:lpstr>
      <vt:lpstr>ELT|ETL</vt:lpstr>
      <vt:lpstr>Содержание</vt:lpstr>
      <vt:lpstr>01</vt:lpstr>
      <vt:lpstr>Что такое ETL|ELT</vt:lpstr>
      <vt:lpstr>Основное различие</vt:lpstr>
      <vt:lpstr>02</vt:lpstr>
      <vt:lpstr>ETL</vt:lpstr>
      <vt:lpstr>ETL</vt:lpstr>
      <vt:lpstr>Зачем трансформировать до?</vt:lpstr>
      <vt:lpstr>03</vt:lpstr>
      <vt:lpstr>ELT</vt:lpstr>
      <vt:lpstr>ELT</vt:lpstr>
      <vt:lpstr>ELT</vt:lpstr>
      <vt:lpstr>04</vt:lpstr>
      <vt:lpstr>Извлечение(Extract)</vt:lpstr>
      <vt:lpstr>Извлечение(Extract)</vt:lpstr>
      <vt:lpstr>Преобразование(Transform)</vt:lpstr>
      <vt:lpstr>Преобразование(Transform)</vt:lpstr>
      <vt:lpstr>Преобразование(Transform)</vt:lpstr>
      <vt:lpstr>Преобразование(Transform)</vt:lpstr>
      <vt:lpstr>Загрузка(Load)</vt:lpstr>
      <vt:lpstr>05</vt:lpstr>
      <vt:lpstr>Зрелость</vt:lpstr>
      <vt:lpstr>Тип и размер данных</vt:lpstr>
      <vt:lpstr>Поддержка хранилищ/озер данных</vt:lpstr>
      <vt:lpstr>Затраты</vt:lpstr>
      <vt:lpstr>Обслуживание</vt:lpstr>
      <vt:lpstr>Время загрузки</vt:lpstr>
      <vt:lpstr>Время преобразования</vt:lpstr>
      <vt:lpstr>Комплаенс</vt:lpstr>
      <vt:lpstr>Области применения</vt:lpstr>
      <vt:lpstr>Области применения</vt:lpstr>
      <vt:lpstr>06</vt:lpstr>
      <vt:lpstr>ETL</vt:lpstr>
      <vt:lpstr>Informatica</vt:lpstr>
      <vt:lpstr>Nifi</vt:lpstr>
      <vt:lpstr>AWS Glue</vt:lpstr>
      <vt:lpstr>Google Cloud Dataflow</vt:lpstr>
      <vt:lpstr>ELT</vt:lpstr>
      <vt:lpstr>Snowflake</vt:lpstr>
      <vt:lpstr>DBT</vt:lpstr>
      <vt:lpstr>Matillion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 в несколько строчек</dc:title>
  <dc:creator>Microsoft Office User</dc:creator>
  <cp:lastModifiedBy>Михаил Зотов</cp:lastModifiedBy>
  <cp:revision>129</cp:revision>
  <dcterms:created xsi:type="dcterms:W3CDTF">2023-02-28T16:28:59Z</dcterms:created>
  <dcterms:modified xsi:type="dcterms:W3CDTF">2025-04-07T17:38:52Z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2023-01-12T00:00:00Z</vt:filetime>
  </property>
  <property fmtid="{D5CDD505-2E9C-101B-9397-08002B2CF9AE}" pid="3" name="Creator">
    <vt:lpwstr>Adobe Illustrator 26.3 (Macintosh)</vt:lpwstr>
  </property>
  <property fmtid="{D5CDD505-2E9C-101B-9397-08002B2CF9AE}" pid="4" name="LastSaved">
    <vt:filetime>2023-01-12T00:00:00Z</vt:filetime>
  </property>
</Properties>
</file>